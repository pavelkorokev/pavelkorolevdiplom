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71" r:id="rId5"/>
    <p:sldId id="274" r:id="rId6"/>
    <p:sldId id="260" r:id="rId7"/>
    <p:sldId id="264" r:id="rId8"/>
    <p:sldId id="275" r:id="rId9"/>
    <p:sldId id="272" r:id="rId10"/>
    <p:sldId id="273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DIPLOM\&#1073;&#1091;&#1084;&#1072;&#1078;&#1082;&#1080;%20&#1085;&#1072;%20&#1076;&#1080;&#1087;&#1083;&#1086;&#1084;\&#1080;&#1089;&#1083;&#1077;&#1076;&#1086;&#1074;&#1072;&#1090;&#1077;&#1083;&#1100;&#1089;&#1082;&#1072;&#1103;%20&#1095;&#1072;&#1089;&#1090;&#1100;\&#1050;&#1085;&#1080;&#1075;&#1072;1%20(&#1042;&#1086;&#1089;&#1089;&#1090;&#1072;&#1085;&#1086;&#1074;&#1083;&#1077;&#1085;&#1085;&#1099;&#1081;)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AppData\Roaming\Microsoft\Excel\&#1050;&#1085;&#1080;&#1075;&#1072;1%20(&#1042;&#1086;&#1089;&#1089;&#1090;&#1072;&#1085;&#1086;&#1074;&#1083;&#1077;&#1085;&#1085;&#1099;&#1081;)%20(version%201).xlsb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tx>
            <c:v>традиционный метод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Лист1!$M$4</c:f>
              <c:numCache>
                <c:formatCode>#,##0</c:formatCode>
                <c:ptCount val="1"/>
                <c:pt idx="0">
                  <c:v>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BB-462D-AFC8-B00B195ECD6F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BBB-462D-AFC8-B00B195ECD6F}"/>
            </c:ext>
          </c:extLst>
        </c:ser>
        <c:ser>
          <c:idx val="2"/>
          <c:order val="2"/>
          <c:tx>
            <c:v>новый метод</c:v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val>
            <c:numRef>
              <c:f>Лист1!$M$5</c:f>
              <c:numCache>
                <c:formatCode>#,##0</c:formatCode>
                <c:ptCount val="1"/>
                <c:pt idx="0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BB-462D-AFC8-B00B195EC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1227034120735"/>
          <c:y val="5.0925846159147574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Лист1!$M$8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66-4A74-9FDA-63CC6D4310C1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166-4A74-9FDA-63CC6D4310C1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Лист1!$M$9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66-4A74-9FDA-63CC6D431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Лист1!$O$4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73-4C29-A6E6-7955694F35F3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8E73-4C29-A6E6-7955694F35F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Лист1!$O$5</c:f>
              <c:numCache>
                <c:formatCode>General</c:formatCode>
                <c:ptCount val="1"/>
                <c:pt idx="0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73-4C29-A6E6-7955694F3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081714785651792"/>
          <c:y val="5.0925925925925923E-2"/>
          <c:w val="0.59757617150128306"/>
          <c:h val="0.82775444736074655"/>
        </c:manualLayout>
      </c:layout>
      <c:barChart>
        <c:barDir val="col"/>
        <c:grouping val="clustered"/>
        <c:varyColors val="0"/>
        <c:ser>
          <c:idx val="0"/>
          <c:order val="0"/>
          <c:tx>
            <c:v>1-ый вариант характеристики.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диф.харка.!$O$4</c:f>
              <c:numCache>
                <c:formatCode>General</c:formatCode>
                <c:ptCount val="1"/>
                <c:pt idx="0">
                  <c:v>1934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F7-40B6-B759-B82B18F18280}"/>
            </c:ext>
          </c:extLst>
        </c:ser>
        <c:ser>
          <c:idx val="1"/>
          <c:order val="1"/>
          <c:tx>
            <c:v>2-ый вариант характеристики.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диф.харка.!$O$5</c:f>
              <c:numCache>
                <c:formatCode>General</c:formatCode>
                <c:ptCount val="1"/>
                <c:pt idx="0">
                  <c:v>2042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F7-40B6-B759-B82B18F18280}"/>
            </c:ext>
          </c:extLst>
        </c:ser>
        <c:ser>
          <c:idx val="2"/>
          <c:order val="2"/>
          <c:tx>
            <c:v>3-ый вариант характеристики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диф.харка.!$O$6</c:f>
              <c:numCache>
                <c:formatCode>General</c:formatCode>
                <c:ptCount val="1"/>
                <c:pt idx="0">
                  <c:v>1895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F7-40B6-B759-B82B18F18280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F5F7-40B6-B759-B82B18F18280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диф.харка.!$O$7</c:f>
              <c:numCache>
                <c:formatCode>General</c:formatCode>
                <c:ptCount val="1"/>
                <c:pt idx="0">
                  <c:v>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F7-40B6-B759-B82B18F18280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диф.харка.!$O$8</c:f>
              <c:numCache>
                <c:formatCode>General</c:formatCode>
                <c:ptCount val="1"/>
                <c:pt idx="0">
                  <c:v>2229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F7-40B6-B759-B82B18F18280}"/>
            </c:ext>
          </c:extLst>
        </c:ser>
        <c:ser>
          <c:idx val="6"/>
          <c:order val="6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диф.харка.!$O$9</c:f>
              <c:numCache>
                <c:formatCode>General</c:formatCode>
                <c:ptCount val="1"/>
                <c:pt idx="0">
                  <c:v>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F7-40B6-B759-B82B18F18280}"/>
            </c:ext>
          </c:extLst>
        </c:ser>
        <c:ser>
          <c:idx val="7"/>
          <c:order val="7"/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F5F7-40B6-B759-B82B18F18280}"/>
            </c:ext>
          </c:extLst>
        </c:ser>
        <c:ser>
          <c:idx val="8"/>
          <c:order val="8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диф.харка.!$O$10</c:f>
              <c:numCache>
                <c:formatCode>General</c:formatCode>
                <c:ptCount val="1"/>
                <c:pt idx="0">
                  <c:v>2252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F7-40B6-B759-B82B18F18280}"/>
            </c:ext>
          </c:extLst>
        </c:ser>
        <c:ser>
          <c:idx val="9"/>
          <c:order val="9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диф.харка.!$O$11</c:f>
              <c:numCache>
                <c:formatCode>General</c:formatCode>
                <c:ptCount val="1"/>
                <c:pt idx="0">
                  <c:v>2317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5F7-40B6-B759-B82B18F18280}"/>
            </c:ext>
          </c:extLst>
        </c:ser>
        <c:ser>
          <c:idx val="10"/>
          <c:order val="10"/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диф.харка.!$O$12</c:f>
              <c:numCache>
                <c:formatCode>General</c:formatCode>
                <c:ptCount val="1"/>
                <c:pt idx="0">
                  <c:v>2216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F7-40B6-B759-B82B18F182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1346608"/>
        <c:axId val="451343328"/>
      </c:barChart>
      <c:catAx>
        <c:axId val="451346608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100       </a:t>
                </a:r>
                <a:r>
                  <a:rPr lang="ru-RU" dirty="0"/>
                  <a:t>	</a:t>
                </a:r>
                <a:r>
                  <a:rPr lang="ru-RU" dirty="0" smtClean="0"/>
                  <a:t>         150</a:t>
                </a:r>
                <a:r>
                  <a:rPr lang="ru-RU" baseline="0" dirty="0" smtClean="0"/>
                  <a:t>                                  </a:t>
                </a:r>
                <a:r>
                  <a:rPr lang="ru-RU" dirty="0" smtClean="0"/>
                  <a:t>200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2501171955903882"/>
              <c:y val="0.905679137946216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crossAx val="451343328"/>
        <c:crosses val="autoZero"/>
        <c:auto val="1"/>
        <c:lblAlgn val="ctr"/>
        <c:lblOffset val="100"/>
        <c:noMultiLvlLbl val="0"/>
      </c:catAx>
      <c:valAx>
        <c:axId val="45134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NOx, </a:t>
                </a:r>
                <a:r>
                  <a:rPr lang="ru-RU"/>
                  <a:t>млн-1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1346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ayout>
        <c:manualLayout>
          <c:xMode val="edge"/>
          <c:yMode val="edge"/>
          <c:x val="0.71423973494565718"/>
          <c:y val="0.27315180447755499"/>
          <c:w val="0.28278471206254424"/>
          <c:h val="0.376095468953943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90718939521035"/>
          <c:y val="3.7164709995636862E-2"/>
          <c:w val="0.61876367685090705"/>
          <c:h val="0.85877818422303509"/>
        </c:manualLayout>
      </c:layout>
      <c:barChart>
        <c:barDir val="col"/>
        <c:grouping val="clustered"/>
        <c:varyColors val="0"/>
        <c:ser>
          <c:idx val="0"/>
          <c:order val="0"/>
          <c:tx>
            <c:v>1-ый вариант характеристики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характеристики'!$P$22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B-40A5-9A95-E7D0CCE32E80}"/>
            </c:ext>
          </c:extLst>
        </c:ser>
        <c:ser>
          <c:idx val="1"/>
          <c:order val="1"/>
          <c:tx>
            <c:v>2-ый вариант характеристики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характеристики'!$P$23</c:f>
              <c:numCache>
                <c:formatCode>General</c:formatCode>
                <c:ptCount val="1"/>
                <c:pt idx="0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4B-40A5-9A95-E7D0CCE32E80}"/>
            </c:ext>
          </c:extLst>
        </c:ser>
        <c:ser>
          <c:idx val="2"/>
          <c:order val="2"/>
          <c:tx>
            <c:v>3-ый вариант характеристики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характеристики'!$P$24</c:f>
              <c:numCache>
                <c:formatCode>General</c:formatCode>
                <c:ptCount val="1"/>
                <c:pt idx="0">
                  <c:v>0.315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4B-40A5-9A95-E7D0CCE32E80}"/>
            </c:ext>
          </c:extLst>
        </c:ser>
        <c:ser>
          <c:idx val="3"/>
          <c:order val="3"/>
          <c:tx>
            <c:v>пропуск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854B-40A5-9A95-E7D0CCE32E80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характеристики'!$P$25</c:f>
              <c:numCache>
                <c:formatCode>General</c:formatCode>
                <c:ptCount val="1"/>
                <c:pt idx="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4B-40A5-9A95-E7D0CCE32E80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характеристики'!$P$26</c:f>
              <c:numCache>
                <c:formatCode>General</c:formatCode>
                <c:ptCount val="1"/>
                <c:pt idx="0">
                  <c:v>0.28699999999999998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4B-40A5-9A95-E7D0CCE32E80}"/>
            </c:ext>
          </c:extLst>
        </c:ser>
        <c:ser>
          <c:idx val="6"/>
          <c:order val="6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характеристики'!$P$27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4B-40A5-9A95-E7D0CCE32E80}"/>
            </c:ext>
          </c:extLst>
        </c:ser>
        <c:ser>
          <c:idx val="7"/>
          <c:order val="7"/>
          <c:tx>
            <c:v>пропуск</c:v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854B-40A5-9A95-E7D0CCE32E80}"/>
            </c:ext>
          </c:extLst>
        </c:ser>
        <c:ser>
          <c:idx val="8"/>
          <c:order val="8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характеристики'!$P$28</c:f>
              <c:numCache>
                <c:formatCode>General</c:formatCode>
                <c:ptCount val="1"/>
                <c:pt idx="0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4B-40A5-9A95-E7D0CCE32E80}"/>
            </c:ext>
          </c:extLst>
        </c:ser>
        <c:ser>
          <c:idx val="9"/>
          <c:order val="9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характеристики'!$P$29</c:f>
              <c:numCache>
                <c:formatCode>General</c:formatCode>
                <c:ptCount val="1"/>
                <c:pt idx="0">
                  <c:v>0.27900000000000003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54B-40A5-9A95-E7D0CCE32E80}"/>
            </c:ext>
          </c:extLst>
        </c:ser>
        <c:ser>
          <c:idx val="10"/>
          <c:order val="1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характеристики'!$P$30</c:f>
              <c:numCache>
                <c:formatCode>General</c:formatCode>
                <c:ptCount val="1"/>
                <c:pt idx="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4B-40A5-9A95-E7D0CCE32E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8784312"/>
        <c:axId val="438779064"/>
      </c:barChart>
      <c:catAx>
        <c:axId val="438784312"/>
        <c:scaling>
          <c:orientation val="minMax"/>
        </c:scaling>
        <c:delete val="1"/>
        <c:axPos val="b"/>
        <c:majorTickMark val="none"/>
        <c:minorTickMark val="none"/>
        <c:tickLblPos val="nextTo"/>
        <c:crossAx val="438779064"/>
        <c:crosses val="autoZero"/>
        <c:auto val="1"/>
        <c:lblAlgn val="ctr"/>
        <c:lblOffset val="100"/>
        <c:noMultiLvlLbl val="0"/>
      </c:catAx>
      <c:valAx>
        <c:axId val="438779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PM, </a:t>
                </a:r>
                <a:r>
                  <a:rPr lang="ru-RU"/>
                  <a:t>г/кВТ*Ч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784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0"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0.88167</cdr:x>
      <cdr:y>0.88202</cdr:y>
    </cdr:from>
    <cdr:to>
      <cdr:x>1</cdr:x>
      <cdr:y>0.98279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030980" y="2419552"/>
          <a:ext cx="541020" cy="276444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0.88029</cdr:x>
      <cdr:y>0.89777</cdr:y>
    </cdr:from>
    <cdr:to>
      <cdr:x>0.98788</cdr:x>
      <cdr:y>1</cdr:y>
    </cdr:to>
    <cdr:pic>
      <cdr:nvPicPr>
        <cdr:cNvPr id="6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367822" y="2485609"/>
          <a:ext cx="656060" cy="283039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0.18663</cdr:x>
      <cdr:y>0.90516</cdr:y>
    </cdr:from>
    <cdr:to>
      <cdr:x>0.37264</cdr:x>
      <cdr:y>0.99738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3320" y="2627889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100</a:t>
          </a:r>
          <a:endParaRPr lang="ru-RU" sz="1100" dirty="0"/>
        </a:p>
      </cdr:txBody>
    </cdr:sp>
  </cdr:relSizeAnchor>
  <cdr:relSizeAnchor xmlns:cdr="http://schemas.openxmlformats.org/drawingml/2006/chartDrawing">
    <cdr:from>
      <cdr:x>0.38101</cdr:x>
      <cdr:y>0.90779</cdr:y>
    </cdr:from>
    <cdr:to>
      <cdr:x>0.56702</cdr:x>
      <cdr:y>1</cdr:y>
    </cdr:to>
    <cdr:sp macro="" textlink="">
      <cdr:nvSpPr>
        <cdr:cNvPr id="5" name="TextBox 1"/>
        <cdr:cNvSpPr txBox="1"/>
      </cdr:nvSpPr>
      <cdr:spPr>
        <a:xfrm xmlns:a="http://schemas.openxmlformats.org/drawingml/2006/main">
          <a:off x="2374900" y="2635509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150</a:t>
          </a:r>
          <a:endParaRPr lang="ru-RU" sz="1100" dirty="0"/>
        </a:p>
      </cdr:txBody>
    </cdr:sp>
  </cdr:relSizeAnchor>
  <cdr:relSizeAnchor xmlns:cdr="http://schemas.openxmlformats.org/drawingml/2006/chartDrawing">
    <cdr:from>
      <cdr:x>0.58028</cdr:x>
      <cdr:y>0.90201</cdr:y>
    </cdr:from>
    <cdr:to>
      <cdr:x>0.76628</cdr:x>
      <cdr:y>0.99422</cdr:y>
    </cdr:to>
    <cdr:sp macro="" textlink="">
      <cdr:nvSpPr>
        <cdr:cNvPr id="7" name="TextBox 1"/>
        <cdr:cNvSpPr txBox="1"/>
      </cdr:nvSpPr>
      <cdr:spPr>
        <a:xfrm xmlns:a="http://schemas.openxmlformats.org/drawingml/2006/main">
          <a:off x="3616960" y="2618740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200</a:t>
          </a:r>
          <a:endParaRPr lang="ru-RU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84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4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33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51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25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8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70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05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29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31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42497-F292-4C8F-AAC6-C26281E2060F}" type="datetimeFigureOut">
              <a:rPr lang="ru-RU" smtClean="0"/>
              <a:t>18.05.2022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65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23081" y="404664"/>
            <a:ext cx="9031254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Московский автомобильно-дорожный государственный технический университет (МАДИ)</a:t>
            </a:r>
          </a:p>
        </p:txBody>
      </p:sp>
      <p:pic>
        <p:nvPicPr>
          <p:cNvPr id="5" name="Рисунок 5" descr="C:\Users\toshiba\Desktop\учебная хрень\00139_00040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228" y="404664"/>
            <a:ext cx="1344613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239892" y="1350285"/>
            <a:ext cx="48241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ru-RU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Энерго</a:t>
            </a: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-экологический факультет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  “Теплотехника и автотракторные двигатели”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   “Энергетическое машиностроение”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подготовки   “Двигатели внутреннего сгорания”</a:t>
            </a: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919537" y="2420309"/>
            <a:ext cx="828898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ru-RU" sz="1600" b="1" dirty="0">
                <a:solidFill>
                  <a:prstClr val="black"/>
                </a:solidFill>
              </a:rPr>
              <a:t>ИЛЛЮСТРАТИВНЫЙ  МАТЕРИАЛ</a:t>
            </a:r>
          </a:p>
          <a:p>
            <a:pPr algn="ctr"/>
            <a:r>
              <a:rPr lang="ru-RU" sz="1600" b="1" dirty="0">
                <a:solidFill>
                  <a:prstClr val="black"/>
                </a:solidFill>
              </a:rPr>
              <a:t>к квалификационной работе бакалавра</a:t>
            </a:r>
            <a:endParaRPr lang="ru-RU" sz="1600" dirty="0">
              <a:solidFill>
                <a:prstClr val="black"/>
              </a:solidFill>
            </a:endParaRPr>
          </a:p>
          <a:p>
            <a:r>
              <a:rPr lang="ru-RU" sz="1600" dirty="0">
                <a:solidFill>
                  <a:prstClr val="black"/>
                </a:solidFill>
              </a:rPr>
              <a:t> </a:t>
            </a:r>
          </a:p>
          <a:p>
            <a:pPr algn="ctr"/>
            <a:r>
              <a:rPr lang="ru-RU" sz="1600" dirty="0">
                <a:solidFill>
                  <a:prstClr val="black"/>
                </a:solidFill>
              </a:rPr>
              <a:t>на тему: 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управления ТНВД аккумуляторной топливной системы дизеля с помощью модельно-базированного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endParaRPr lang="ru-RU" altLang="ru-RU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4918076" y="6154739"/>
            <a:ext cx="2016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МОСКВА 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2022</a:t>
            </a:r>
            <a:endParaRPr lang="ru-RU" altLang="ru-RU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3971" y="3743748"/>
            <a:ext cx="62432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                             Разработал студент 	___________ </a:t>
            </a:r>
            <a:r>
              <a:rPr lang="ru-RU" sz="1400" b="1" dirty="0" smtClean="0">
                <a:solidFill>
                  <a:prstClr val="black"/>
                </a:solidFill>
              </a:rPr>
              <a:t>Королёв П.А.</a:t>
            </a:r>
            <a:endParaRPr lang="ru-RU" sz="1400" b="1" dirty="0">
              <a:solidFill>
                <a:prstClr val="black"/>
              </a:solidFill>
            </a:endParaRP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				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                          Главный консультант  	___________ </a:t>
            </a:r>
            <a:r>
              <a:rPr lang="ru-RU" sz="1400" b="1" dirty="0" err="1">
                <a:solidFill>
                  <a:prstClr val="black"/>
                </a:solidFill>
              </a:rPr>
              <a:t>Душкин</a:t>
            </a:r>
            <a:r>
              <a:rPr lang="ru-RU" sz="1400" b="1" dirty="0">
                <a:solidFill>
                  <a:prstClr val="black"/>
                </a:solidFill>
              </a:rPr>
              <a:t> П.В.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Консультант по конструкторской части     ___________ Сафронов П. В.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Консультант по экономической части ___________ Дороднова Г. М.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Консультант по производственной</a:t>
            </a: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и экологической безопасности         ___________ Григорьева Т.Ю.</a:t>
            </a:r>
          </a:p>
          <a:p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7421" y="115889"/>
            <a:ext cx="1180531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81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7061" y="486091"/>
            <a:ext cx="118984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совершенствование рабочего процесса топливной системы типа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Rail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повышением точности управления давлением в гидравлическом аккумуляторе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</a:t>
            </a:r>
            <a:r>
              <a:rPr lang="ru-RU" sz="2400" dirty="0" smtClean="0"/>
              <a:t>проектировать 4-х </a:t>
            </a:r>
            <a:r>
              <a:rPr lang="ru-RU" sz="2400" dirty="0"/>
              <a:t>цилиндровый рядный дизельный двигатель с номинальной </a:t>
            </a:r>
            <a:r>
              <a:rPr lang="ru-RU" sz="2400" dirty="0" smtClean="0"/>
              <a:t>мощностью, </a:t>
            </a:r>
            <a:r>
              <a:rPr lang="ru-RU" sz="2400" i="1" dirty="0" err="1" smtClean="0"/>
              <a:t>N</a:t>
            </a:r>
            <a:r>
              <a:rPr lang="ru-RU" sz="2400" baseline="-25000" dirty="0" err="1" smtClean="0"/>
              <a:t>e</a:t>
            </a:r>
            <a:r>
              <a:rPr lang="ru-RU" sz="2400" dirty="0" smtClean="0"/>
              <a:t>=40 кВт, номинальной частотой вращения n=1700 мин</a:t>
            </a:r>
            <a:r>
              <a:rPr lang="ru-RU" sz="2400" baseline="30000" dirty="0" smtClean="0"/>
              <a:t>-1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ТНВД на основе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ПИД-регулятора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модельно базированного программирования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математическую модель аккумулятора топливной системы для отладки разработанного алгоритма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отладку и первичную калибровку разработанного ПИД-регулятора;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проекта алгоритма управления ТС,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основанного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её физической модели.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1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03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61" y="2427954"/>
            <a:ext cx="3623874" cy="1502582"/>
          </a:xfrm>
          <a:prstGeom prst="rect">
            <a:avLst/>
          </a:prstGeom>
        </p:spPr>
      </p:pic>
      <p:pic>
        <p:nvPicPr>
          <p:cNvPr id="1026" name="Picture 2" descr="https://sun9-32.userapi.com/s/v1/if2/dRP8oMnLT0S3os1ZBS61CSwSm96iAO7-28q4AKIVLVCo9tS42tLh66B1pPjky9fLgPxYBqOaX8AFXAKL8L5Ioc3I.jpg?size=1200x1600&amp;quality=95&amp;type=album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7" t="4497" r="10893" b="6182"/>
          <a:stretch/>
        </p:blipFill>
        <p:spPr bwMode="auto">
          <a:xfrm>
            <a:off x="5284364" y="1088411"/>
            <a:ext cx="2484583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2</a:t>
            </a:r>
            <a:endParaRPr lang="ru-RU" altLang="en-US" sz="135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605869" y="5578287"/>
            <a:ext cx="3473356" cy="454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ctr">
              <a:lnSpc>
                <a:spcPct val="107000"/>
              </a:lnSpc>
              <a:tabLst>
                <a:tab pos="405289" algn="l"/>
              </a:tabLst>
            </a:pPr>
            <a:r>
              <a:rPr lang="ru-RU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Блок 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управления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85297" y="5520405"/>
            <a:ext cx="38449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ctr">
              <a:tabLst>
                <a:tab pos="405289" algn="l"/>
              </a:tabLst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Исследовательский </a:t>
            </a:r>
            <a:r>
              <a:rPr lang="ru-RU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стенд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82626" y="5408689"/>
            <a:ext cx="38387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 алгоритмов 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883734" y="338685"/>
            <a:ext cx="8142515" cy="3238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7000"/>
              </a:lnSpc>
            </a:pPr>
            <a:r>
              <a:rPr lang="ru-RU" sz="2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Комплекс для исследования топливных систем</a:t>
            </a:r>
            <a:endParaRPr lang="ru-RU" altLang="en-US" sz="2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56209" y="1963016"/>
            <a:ext cx="28246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ASCET</a:t>
            </a:r>
            <a:r>
              <a:rPr lang="en-US" sz="2200" dirty="0" smtClean="0"/>
              <a:t> (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Bosch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ETAS</a:t>
            </a:r>
            <a:r>
              <a:rPr lang="en-US" sz="2200" dirty="0" smtClean="0"/>
              <a:t>)</a:t>
            </a:r>
            <a:endParaRPr lang="ru-RU" sz="2200" dirty="0"/>
          </a:p>
        </p:txBody>
      </p:sp>
      <p:pic>
        <p:nvPicPr>
          <p:cNvPr id="2" name="Picture 2" descr="https://sun9-35.userapi.com/s/v1/if2/jiBdk6VVEQmbKXI-oe0fBmzgdhLqtpuGtF4cNZeT6WnqW4lauPAl0ikqv4a-K96qSoLgz-hVGkiLN9OyzCHJANJ6.jpg?size=1600x1200&amp;quality=95&amp;type=alb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23" y="1464444"/>
            <a:ext cx="4462327" cy="334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Прямая соединительная линия 12"/>
          <p:cNvCxnSpPr/>
          <p:nvPr/>
        </p:nvCxnSpPr>
        <p:spPr>
          <a:xfrm flipH="1">
            <a:off x="932542" y="3269550"/>
            <a:ext cx="619168" cy="2009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926824" y="5259508"/>
            <a:ext cx="2182072" cy="136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379111" y="3022834"/>
            <a:ext cx="566453" cy="22503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925558" y="5273199"/>
            <a:ext cx="968781" cy="119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867639" y="1186800"/>
            <a:ext cx="1241257" cy="1241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30" idx="1"/>
            <a:endCxn id="30" idx="3"/>
          </p:cNvCxnSpPr>
          <p:nvPr/>
        </p:nvCxnSpPr>
        <p:spPr>
          <a:xfrm>
            <a:off x="1883734" y="1181417"/>
            <a:ext cx="20709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71958" y="4884793"/>
            <a:ext cx="2153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лектродвигатель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53085" y="4919701"/>
            <a:ext cx="864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ТНВД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83734" y="827474"/>
            <a:ext cx="2070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Гидравлический 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аккумулятор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5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033"/>
          <a:stretch/>
        </p:blipFill>
        <p:spPr>
          <a:xfrm>
            <a:off x="1776007" y="676687"/>
            <a:ext cx="8265485" cy="6152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33086" y="153467"/>
            <a:ext cx="916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 Математическая модель топливной системы</a:t>
            </a:r>
            <a:endParaRPr lang="ru-RU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983345" y="1220655"/>
            <a:ext cx="2073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Диспетчер модели</a:t>
            </a:r>
            <a:endParaRPr lang="ru-RU" b="1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74255" y="3094059"/>
            <a:ext cx="2050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724728" y="3094059"/>
            <a:ext cx="258617" cy="731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514534" y="1589987"/>
            <a:ext cx="1482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22213" y="1199907"/>
            <a:ext cx="126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Модель ТС</a:t>
            </a:r>
            <a:endParaRPr lang="ru-RU" b="1" dirty="0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flipH="1">
            <a:off x="8780210" y="1601144"/>
            <a:ext cx="734324" cy="65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5223" y="2724726"/>
            <a:ext cx="198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Управление ТНВД</a:t>
            </a:r>
            <a:endParaRPr lang="ru-RU" b="1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2983345" y="1510106"/>
            <a:ext cx="2100646" cy="19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5083991" y="1516752"/>
            <a:ext cx="604350" cy="168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3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8785659" y="4424264"/>
                <a:ext cx="3242828" cy="618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659" y="4424264"/>
                <a:ext cx="3242828" cy="618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07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46" y="1343920"/>
            <a:ext cx="7743899" cy="45349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70901" y="1658452"/>
            <a:ext cx="3618072" cy="1066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13998" y="2725252"/>
            <a:ext cx="3618072" cy="8784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016672" y="3603729"/>
            <a:ext cx="1815398" cy="15201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33985" y="989861"/>
            <a:ext cx="2158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Уставка давления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307" y="4239343"/>
            <a:ext cx="17042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Измеренное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2078" y="5695376"/>
            <a:ext cx="2926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Коэффициенты ПИД регулятора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9058" y="915538"/>
            <a:ext cx="1804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Выходной ШИМ сигнал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34744" y="5046843"/>
            <a:ext cx="164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 регулятор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938802" y="1322334"/>
            <a:ext cx="550391" cy="444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938802" y="3621985"/>
            <a:ext cx="403648" cy="6153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2678508" y="5108508"/>
            <a:ext cx="403648" cy="6153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 flipV="1">
            <a:off x="6900357" y="4701922"/>
            <a:ext cx="391885" cy="406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>
            <a:off x="7544790" y="1623424"/>
            <a:ext cx="361537" cy="8318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43934" y="12183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1724216" y="121839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4</a:t>
            </a:r>
            <a:endParaRPr lang="ru-RU" altLang="en-US" sz="135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408982" y="203833"/>
            <a:ext cx="5374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ПИД-регулятор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3"/>
          <a:srcRect l="33234" t="26874" r="42170" b="50959"/>
          <a:stretch/>
        </p:blipFill>
        <p:spPr>
          <a:xfrm>
            <a:off x="8959295" y="2581143"/>
            <a:ext cx="2660073" cy="1348509"/>
          </a:xfrm>
          <a:prstGeom prst="rect">
            <a:avLst/>
          </a:prstGeom>
        </p:spPr>
      </p:pic>
      <p:cxnSp>
        <p:nvCxnSpPr>
          <p:cNvPr id="22" name="Прямая со стрелкой 21"/>
          <p:cNvCxnSpPr/>
          <p:nvPr/>
        </p:nvCxnSpPr>
        <p:spPr>
          <a:xfrm>
            <a:off x="8888235" y="1623423"/>
            <a:ext cx="326565" cy="8318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13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5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798619" y="152074"/>
            <a:ext cx="7229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калибровки и первичной отладки ПИД- регулятора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5729" y="3044563"/>
            <a:ext cx="468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П=0,5 </a:t>
            </a:r>
            <a:r>
              <a:rPr lang="ru-RU" sz="1400" dirty="0" smtClean="0"/>
              <a:t>И=0,1 </a:t>
            </a:r>
            <a:r>
              <a:rPr lang="ru-RU" sz="1400" dirty="0"/>
              <a:t>Д=-</a:t>
            </a:r>
            <a:r>
              <a:rPr lang="ru-RU" sz="1400" dirty="0" smtClean="0"/>
              <a:t>0,01 долгий выход на режим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5729" y="6224456"/>
            <a:ext cx="4609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П=0,05 </a:t>
            </a:r>
            <a:r>
              <a:rPr lang="ru-RU" sz="1400" dirty="0"/>
              <a:t>И=0,05 Д=-0,01 время выхода на </a:t>
            </a:r>
            <a:endParaRPr lang="ru-RU" sz="1400" dirty="0" smtClean="0"/>
          </a:p>
          <a:p>
            <a:r>
              <a:rPr lang="ru-RU" sz="1400" dirty="0" smtClean="0"/>
              <a:t>1250 </a:t>
            </a:r>
            <a:r>
              <a:rPr lang="ru-RU" sz="1400" dirty="0"/>
              <a:t>бар (</a:t>
            </a:r>
            <a:r>
              <a:rPr lang="ru-RU" sz="1400" dirty="0" err="1"/>
              <a:t>уставка</a:t>
            </a:r>
            <a:r>
              <a:rPr lang="ru-RU" sz="1400" dirty="0"/>
              <a:t>) = 1,79с, перерегулирование = 1545 бар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1005" y="3080280"/>
            <a:ext cx="4558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П=0,02 И=0,05 Д=-0,01 время выхода </a:t>
            </a:r>
            <a:r>
              <a:rPr lang="ru-RU" sz="1400" dirty="0" smtClean="0"/>
              <a:t>на</a:t>
            </a:r>
          </a:p>
          <a:p>
            <a:r>
              <a:rPr lang="ru-RU" sz="1400" dirty="0" smtClean="0"/>
              <a:t>1250 </a:t>
            </a:r>
            <a:r>
              <a:rPr lang="ru-RU" sz="1400" dirty="0"/>
              <a:t>бар (</a:t>
            </a:r>
            <a:r>
              <a:rPr lang="ru-RU" sz="1400" dirty="0" err="1"/>
              <a:t>уставка</a:t>
            </a:r>
            <a:r>
              <a:rPr lang="ru-RU" sz="1400" dirty="0"/>
              <a:t>) = 2,1с, перерегулирование = 1730 бар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0255" y="6311857"/>
            <a:ext cx="4431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П=0,01 И=0,05 Д=-0,001 </a:t>
            </a:r>
            <a:r>
              <a:rPr lang="ru-RU" sz="1400" dirty="0" smtClean="0"/>
              <a:t>–Регулятор не вышел на режим</a:t>
            </a:r>
            <a:endParaRPr lang="ru-RU" sz="1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" y="588369"/>
            <a:ext cx="4577082" cy="237308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" y="3679220"/>
            <a:ext cx="4577082" cy="243379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999" y="588368"/>
            <a:ext cx="4634789" cy="2500959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998" y="3679220"/>
            <a:ext cx="4634789" cy="254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9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/>
          <p:cNvSpPr/>
          <p:nvPr/>
        </p:nvSpPr>
        <p:spPr>
          <a:xfrm>
            <a:off x="1361321" y="3341900"/>
            <a:ext cx="1156129" cy="7765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924" y="115889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6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3933" y="109344"/>
            <a:ext cx="1158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комбинированного регулятора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504345" y="3479755"/>
                <a:ext cx="871071" cy="5493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ак</m:t>
                          </m:r>
                        </m:sub>
                        <m:sup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уст</m:t>
                          </m:r>
                        </m:sup>
                      </m:sSub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345" y="3479755"/>
                <a:ext cx="871071" cy="5493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кругленный прямоугольник 15"/>
          <p:cNvSpPr/>
          <p:nvPr/>
        </p:nvSpPr>
        <p:spPr>
          <a:xfrm>
            <a:off x="4032552" y="1053206"/>
            <a:ext cx="3466012" cy="408432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411374" y="3375427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ПИД-регулятор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(реализовано)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единительная линия 19"/>
          <p:cNvCxnSpPr>
            <a:stCxn id="18" idx="3"/>
          </p:cNvCxnSpPr>
          <p:nvPr/>
        </p:nvCxnSpPr>
        <p:spPr>
          <a:xfrm>
            <a:off x="7119741" y="4111302"/>
            <a:ext cx="953589" cy="7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8073330" y="2036902"/>
            <a:ext cx="0" cy="208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8073330" y="2971188"/>
            <a:ext cx="421944" cy="6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8495274" y="2241353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 управления:</a:t>
            </a:r>
          </a:p>
          <a:p>
            <a:pPr algn="ctr"/>
            <a:endParaRPr lang="ru-RU" dirty="0" smtClean="0">
              <a:solidFill>
                <a:schemeClr val="tx1"/>
              </a:solidFill>
            </a:endParaRPr>
          </a:p>
          <a:p>
            <a:pPr algn="ctr"/>
            <a:r>
              <a:rPr lang="ru-RU" b="1" dirty="0" smtClean="0">
                <a:solidFill>
                  <a:schemeClr val="tx1"/>
                </a:solidFill>
              </a:rPr>
              <a:t>ТС аккумуляторного типа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7" name="Прямая соединительная линия 26"/>
          <p:cNvCxnSpPr>
            <a:stCxn id="25" idx="3"/>
          </p:cNvCxnSpPr>
          <p:nvPr/>
        </p:nvCxnSpPr>
        <p:spPr>
          <a:xfrm flipV="1">
            <a:off x="11203641" y="2977227"/>
            <a:ext cx="35402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11545324" y="2977228"/>
            <a:ext cx="0" cy="28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3521775" y="5849249"/>
            <a:ext cx="80358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 flipV="1">
            <a:off x="3499341" y="4279735"/>
            <a:ext cx="22434" cy="1569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Овал 30"/>
          <p:cNvSpPr/>
          <p:nvPr/>
        </p:nvSpPr>
        <p:spPr>
          <a:xfrm>
            <a:off x="3304060" y="3923073"/>
            <a:ext cx="400595" cy="37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381112" y="3910403"/>
            <a:ext cx="23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cxnSp>
        <p:nvCxnSpPr>
          <p:cNvPr id="33" name="Прямая соединительная линия 32"/>
          <p:cNvCxnSpPr>
            <a:stCxn id="31" idx="6"/>
            <a:endCxn id="18" idx="1"/>
          </p:cNvCxnSpPr>
          <p:nvPr/>
        </p:nvCxnSpPr>
        <p:spPr>
          <a:xfrm flipV="1">
            <a:off x="3704655" y="4111302"/>
            <a:ext cx="70671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31" idx="2"/>
          </p:cNvCxnSpPr>
          <p:nvPr/>
        </p:nvCxnSpPr>
        <p:spPr>
          <a:xfrm flipH="1" flipV="1">
            <a:off x="3067010" y="4111302"/>
            <a:ext cx="23705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26" idx="3"/>
          </p:cNvCxnSpPr>
          <p:nvPr/>
        </p:nvCxnSpPr>
        <p:spPr>
          <a:xfrm>
            <a:off x="2517450" y="3730165"/>
            <a:ext cx="582551" cy="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 flipH="1">
            <a:off x="3083505" y="2757651"/>
            <a:ext cx="10411" cy="136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/>
              <p:cNvSpPr/>
              <p:nvPr/>
            </p:nvSpPr>
            <p:spPr>
              <a:xfrm>
                <a:off x="8073330" y="5326029"/>
                <a:ext cx="9400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ак</m:t>
                          </m:r>
                        </m:sub>
                        <m:sup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изм</m:t>
                          </m:r>
                        </m:sup>
                      </m:sSub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7" name="Прямоугольник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330" y="5326029"/>
                <a:ext cx="94000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Скругленный прямоугольник 39"/>
          <p:cNvSpPr/>
          <p:nvPr/>
        </p:nvSpPr>
        <p:spPr>
          <a:xfrm>
            <a:off x="4402663" y="1254698"/>
            <a:ext cx="2708367" cy="1911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Регулятор по модели.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На основе уравнения </a:t>
            </a:r>
            <a:r>
              <a:rPr lang="ru-RU" smtClean="0">
                <a:solidFill>
                  <a:schemeClr val="tx1"/>
                </a:solidFill>
              </a:rPr>
              <a:t>объемного баланса:</a:t>
            </a:r>
            <a:endParaRPr lang="ru-R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4670007" y="2288420"/>
                <a:ext cx="2316275" cy="618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007" y="2288420"/>
                <a:ext cx="2316275" cy="618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Прямая соединительная линия 34"/>
          <p:cNvCxnSpPr/>
          <p:nvPr/>
        </p:nvCxnSpPr>
        <p:spPr>
          <a:xfrm>
            <a:off x="7111030" y="2027774"/>
            <a:ext cx="953589" cy="7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V="1">
            <a:off x="3078125" y="2757651"/>
            <a:ext cx="1333249" cy="11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Скругленный прямоугольник 40"/>
          <p:cNvSpPr/>
          <p:nvPr/>
        </p:nvSpPr>
        <p:spPr>
          <a:xfrm>
            <a:off x="812800" y="1392756"/>
            <a:ext cx="2419926" cy="9501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Входные данные:</a:t>
            </a:r>
            <a:endParaRPr lang="ru-R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1421829" y="1833529"/>
                <a:ext cx="1119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т</m:t>
                        </m:r>
                      </m:sub>
                    </m:sSub>
                  </m:oMath>
                </a14:m>
                <a:r>
                  <a:rPr lang="ru-RU" dirty="0" smtClean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т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ак.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829" y="1833529"/>
                <a:ext cx="1119987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>
            <a:stCxn id="41" idx="3"/>
          </p:cNvCxnSpPr>
          <p:nvPr/>
        </p:nvCxnSpPr>
        <p:spPr>
          <a:xfrm flipV="1">
            <a:off x="3232726" y="1856718"/>
            <a:ext cx="1178648" cy="1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687270" y="789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14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988" y="78944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1575" y="91466"/>
            <a:ext cx="1158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алгоритма уравнения ТС по модели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r="1427" b="11964"/>
          <a:stretch/>
        </p:blipFill>
        <p:spPr>
          <a:xfrm>
            <a:off x="1094216" y="627208"/>
            <a:ext cx="9475000" cy="576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0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r="9283" b="15459"/>
          <a:stretch/>
        </p:blipFill>
        <p:spPr>
          <a:xfrm>
            <a:off x="860086" y="2032530"/>
            <a:ext cx="5005005" cy="3021155"/>
          </a:xfrm>
          <a:prstGeom prst="rect">
            <a:avLst/>
          </a:prstGeom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7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558667" y="170562"/>
            <a:ext cx="9074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целесообразности использования модельно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базированного</a:t>
            </a: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алгоритмов управления системами ДВС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31142" r="34605" b="-777"/>
          <a:stretch/>
        </p:blipFill>
        <p:spPr>
          <a:xfrm>
            <a:off x="6581243" y="1684553"/>
            <a:ext cx="4552714" cy="44756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3332" y="1130555"/>
            <a:ext cx="3908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8824" y="976667"/>
            <a:ext cx="4307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Модельно базированное программирование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09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8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/>
          </p:nvPr>
        </p:nvGraphicFramePr>
        <p:xfrm>
          <a:off x="414099" y="1271088"/>
          <a:ext cx="4578796" cy="203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538940"/>
              </p:ext>
            </p:extLst>
          </p:nvPr>
        </p:nvGraphicFramePr>
        <p:xfrm>
          <a:off x="6734306" y="1271088"/>
          <a:ext cx="4679932" cy="203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/>
          <p:cNvGraphicFramePr>
            <a:graphicFrameLocks/>
          </p:cNvGraphicFramePr>
          <p:nvPr>
            <p:extLst/>
          </p:nvPr>
        </p:nvGraphicFramePr>
        <p:xfrm>
          <a:off x="6918960" y="4612640"/>
          <a:ext cx="4286452" cy="179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9276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25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52241" y="564192"/>
            <a:ext cx="4614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решения задачи </a:t>
            </a:r>
          </a:p>
          <a:p>
            <a:r>
              <a:rPr lang="ru-RU" dirty="0" smtClean="0"/>
              <a:t>традиционным и новым методами, руб./год.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203440" y="564191"/>
            <a:ext cx="412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Время на разработку нового алгоритма </a:t>
            </a:r>
          </a:p>
          <a:p>
            <a:r>
              <a:rPr lang="ru-RU" dirty="0" smtClean="0"/>
              <a:t>управления меньше на 60%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624333" y="312609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774182" y="3144755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329308" y="4128172"/>
            <a:ext cx="387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товара ниже на 37.5%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9687038" y="632527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822210" y="634143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375788" y="3632119"/>
          <a:ext cx="5988852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284">
                  <a:extLst>
                    <a:ext uri="{9D8B030D-6E8A-4147-A177-3AD203B41FA5}">
                      <a16:colId xmlns:a16="http://schemas.microsoft.com/office/drawing/2014/main" val="1818626922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2207490214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568960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Затраты на разработку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Срок окупаемости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Годовой экономический эффект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42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2 081 473 руб.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16 месяцев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1 800 000 руб.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0939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75788" y="5331771"/>
            <a:ext cx="6810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Использование МБП позволяет сократить срок разработки </a:t>
            </a:r>
          </a:p>
          <a:p>
            <a:r>
              <a:rPr lang="ru-RU" dirty="0" smtClean="0"/>
              <a:t>алгоритма управления, а также его легче воспринимать </a:t>
            </a:r>
          </a:p>
          <a:p>
            <a:r>
              <a:rPr lang="ru-RU" dirty="0" smtClean="0"/>
              <a:t>другому специалисту при внесение корректировок или доработок.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83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687270" y="789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9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988" y="78944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83508" y="1098084"/>
            <a:ext cx="4510295" cy="2742976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83507" y="3873521"/>
            <a:ext cx="4510295" cy="2799187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6248333" y="1079531"/>
            <a:ext cx="4510295" cy="272684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025113" y="668649"/>
            <a:ext cx="6067880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ru-RU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Режим: </a:t>
            </a:r>
            <a:r>
              <a:rPr lang="ru-RU" altLang="en-US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</a:t>
            </a:r>
            <a:r>
              <a:rPr lang="en-US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00 мин</a:t>
            </a:r>
            <a:r>
              <a:rPr lang="ru-RU" alt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ru-RU" altLang="en-US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250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Нм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φ</a:t>
            </a:r>
            <a:r>
              <a:rPr lang="ru-RU" altLang="en-US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о.вп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10° ПКВ до ВМТ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57103" y="3981034"/>
            <a:ext cx="4215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а) Классический </a:t>
            </a:r>
            <a:r>
              <a:rPr lang="ru-RU" dirty="0"/>
              <a:t>вид </a:t>
            </a:r>
            <a:r>
              <a:rPr lang="ru-RU" dirty="0" smtClean="0"/>
              <a:t>дифференциальной</a:t>
            </a:r>
          </a:p>
          <a:p>
            <a:r>
              <a:rPr lang="ru-RU" dirty="0" smtClean="0"/>
              <a:t> </a:t>
            </a:r>
            <a:r>
              <a:rPr lang="ru-RU" dirty="0"/>
              <a:t>характеристики впрыска диз. топлива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7102" y="4695296"/>
            <a:ext cx="389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б) «Некорректная</a:t>
            </a:r>
            <a:r>
              <a:rPr lang="ru-RU" dirty="0"/>
              <a:t>» характеристика </a:t>
            </a:r>
            <a:endParaRPr lang="ru-RU" dirty="0" smtClean="0"/>
          </a:p>
          <a:p>
            <a:r>
              <a:rPr lang="ru-RU" dirty="0" smtClean="0"/>
              <a:t>впрыска </a:t>
            </a:r>
            <a:r>
              <a:rPr lang="ru-RU" dirty="0"/>
              <a:t>диз. топлива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7103" y="5326551"/>
            <a:ext cx="4128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в) Ступенчатая характеристика впрыска </a:t>
            </a:r>
          </a:p>
          <a:p>
            <a:r>
              <a:rPr lang="ru-RU" dirty="0" err="1" smtClean="0"/>
              <a:t>диз</a:t>
            </a:r>
            <a:r>
              <a:rPr lang="ru-RU" dirty="0"/>
              <a:t>. топлива (базовая в «</a:t>
            </a:r>
            <a:r>
              <a:rPr lang="en-US" dirty="0"/>
              <a:t>Diesel</a:t>
            </a:r>
            <a:r>
              <a:rPr lang="ru-RU" dirty="0"/>
              <a:t>-</a:t>
            </a:r>
            <a:r>
              <a:rPr lang="en-US" dirty="0"/>
              <a:t>RK</a:t>
            </a:r>
            <a:r>
              <a:rPr lang="ru-RU" dirty="0"/>
              <a:t>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345" y="2284906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а)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12345" y="4833795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791296" y="2271331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в)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53189" y="188404"/>
            <a:ext cx="115084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влияния дифференциальной характеристики на показатели токсичности дизеля.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76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687270" y="789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10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988" y="78944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5" name="Диаграмма 14"/>
          <p:cNvGraphicFramePr/>
          <p:nvPr>
            <p:extLst>
              <p:ext uri="{D42A27DB-BD31-4B8C-83A1-F6EECF244321}">
                <p14:modId xmlns:p14="http://schemas.microsoft.com/office/powerpoint/2010/main" val="4082111468"/>
              </p:ext>
            </p:extLst>
          </p:nvPr>
        </p:nvGraphicFramePr>
        <p:xfrm>
          <a:off x="685593" y="650576"/>
          <a:ext cx="6213971" cy="264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Диаграмма 15"/>
          <p:cNvGraphicFramePr/>
          <p:nvPr>
            <p:extLst>
              <p:ext uri="{D42A27DB-BD31-4B8C-83A1-F6EECF244321}">
                <p14:modId xmlns:p14="http://schemas.microsoft.com/office/powerpoint/2010/main" val="1995881549"/>
              </p:ext>
            </p:extLst>
          </p:nvPr>
        </p:nvGraphicFramePr>
        <p:xfrm>
          <a:off x="875682" y="3616575"/>
          <a:ext cx="6097773" cy="2768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92065" y="1234938"/>
            <a:ext cx="44952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 smtClean="0"/>
              <a:t>При </a:t>
            </a:r>
            <a:r>
              <a:rPr lang="ru-RU" dirty="0"/>
              <a:t>использовании первой </a:t>
            </a:r>
            <a:r>
              <a:rPr lang="ru-RU" dirty="0" smtClean="0"/>
              <a:t>характеристики</a:t>
            </a:r>
          </a:p>
          <a:p>
            <a:pPr algn="just"/>
            <a:r>
              <a:rPr lang="ru-RU" dirty="0" smtClean="0"/>
              <a:t>количество </a:t>
            </a:r>
            <a:r>
              <a:rPr lang="ru-RU" dirty="0"/>
              <a:t>выбросов </a:t>
            </a:r>
            <a:r>
              <a:rPr lang="ru-RU" dirty="0" smtClean="0"/>
              <a:t>твердых</a:t>
            </a:r>
          </a:p>
          <a:p>
            <a:pPr algn="just"/>
            <a:r>
              <a:rPr lang="ru-RU" dirty="0" smtClean="0"/>
              <a:t>частиц </a:t>
            </a:r>
            <a:r>
              <a:rPr lang="ru-RU" dirty="0"/>
              <a:t>снизилось на 3-6% </a:t>
            </a:r>
            <a:endParaRPr lang="ru-RU" dirty="0" smtClean="0"/>
          </a:p>
          <a:p>
            <a:pPr algn="just"/>
            <a:r>
              <a:rPr lang="ru-RU" dirty="0" smtClean="0"/>
              <a:t>на </a:t>
            </a:r>
            <a:r>
              <a:rPr lang="ru-RU" dirty="0"/>
              <a:t>всех режимах работы по </a:t>
            </a:r>
            <a:r>
              <a:rPr lang="ru-RU" dirty="0" smtClean="0"/>
              <a:t>сравнению</a:t>
            </a:r>
          </a:p>
          <a:p>
            <a:pPr algn="just"/>
            <a:r>
              <a:rPr lang="ru-RU" dirty="0" smtClean="0"/>
              <a:t>с </a:t>
            </a:r>
            <a:r>
              <a:rPr lang="ru-RU" dirty="0"/>
              <a:t>некорректной характеристикой впрыска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92065" y="4400734"/>
            <a:ext cx="4819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 </a:t>
            </a:r>
            <a:r>
              <a:rPr lang="ru-RU" dirty="0"/>
              <a:t>использовании ступенчатой характеристики </a:t>
            </a:r>
            <a:r>
              <a:rPr lang="ru-RU" dirty="0" smtClean="0"/>
              <a:t>количество выбросов оксида </a:t>
            </a:r>
            <a:r>
              <a:rPr lang="ru-RU" dirty="0"/>
              <a:t>азота </a:t>
            </a:r>
            <a:r>
              <a:rPr lang="ru-RU" dirty="0" smtClean="0"/>
              <a:t>на снизилось </a:t>
            </a:r>
            <a:r>
              <a:rPr lang="ru-RU" dirty="0"/>
              <a:t>5% </a:t>
            </a:r>
            <a:r>
              <a:rPr lang="ru-RU" dirty="0" smtClean="0"/>
              <a:t>по </a:t>
            </a:r>
            <a:r>
              <a:rPr lang="ru-RU" dirty="0"/>
              <a:t>сравнению с </a:t>
            </a:r>
            <a:endParaRPr lang="ru-RU" dirty="0" smtClean="0"/>
          </a:p>
          <a:p>
            <a:r>
              <a:rPr lang="ru-RU" dirty="0" smtClean="0"/>
              <a:t>некорректной </a:t>
            </a:r>
            <a:r>
              <a:rPr lang="ru-RU" dirty="0"/>
              <a:t>характеристикой впрыска. </a:t>
            </a:r>
          </a:p>
        </p:txBody>
      </p:sp>
    </p:spTree>
    <p:extLst>
      <p:ext uri="{BB962C8B-B14F-4D97-AF65-F5344CB8AC3E}">
        <p14:creationId xmlns:p14="http://schemas.microsoft.com/office/powerpoint/2010/main" val="227461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1136" y="302991"/>
            <a:ext cx="10515600" cy="720725"/>
          </a:xfrm>
        </p:spPr>
        <p:txBody>
          <a:bodyPr/>
          <a:lstStyle/>
          <a:p>
            <a:pPr algn="ctr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872" y="1967346"/>
            <a:ext cx="121461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спроектирован, </a:t>
            </a:r>
            <a:r>
              <a:rPr lang="ru-RU" sz="2400" dirty="0"/>
              <a:t>4-х цилиндровый рядный дизельный двигатель с номинальной мощностью, </a:t>
            </a:r>
            <a:r>
              <a:rPr lang="ru-RU" sz="2400" i="1" dirty="0" err="1"/>
              <a:t>N</a:t>
            </a:r>
            <a:r>
              <a:rPr lang="ru-RU" sz="2400" baseline="-25000" dirty="0" err="1"/>
              <a:t>e</a:t>
            </a:r>
            <a:r>
              <a:rPr lang="ru-RU" sz="2400" dirty="0"/>
              <a:t>=40 кВт, номинальной частотой вращения, n=1700 </a:t>
            </a:r>
            <a:r>
              <a:rPr lang="ru-RU" sz="2400" dirty="0" smtClean="0"/>
              <a:t>мин</a:t>
            </a:r>
            <a:r>
              <a:rPr lang="ru-RU" sz="2400" baseline="30000" dirty="0" smtClean="0"/>
              <a:t>-1</a:t>
            </a:r>
            <a:r>
              <a:rPr lang="ru-RU" sz="2400" dirty="0" smtClean="0"/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алгоритм управления дросселирующим клапаном ТНВД на основе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ПИД-регулятора в системе модельно базированного программирования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ASCET</a:t>
            </a:r>
            <a:r>
              <a:rPr lang="ru-RU" sz="24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математическую модель аккумулятора топливной системы для отладки разработанного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управления;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и первичная калибровка разработанного ПИД регулятора;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проект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управления ТС, основанный на её физической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04186" y="1085850"/>
            <a:ext cx="4656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Поставленные задачи выполнены</a:t>
            </a:r>
            <a:r>
              <a:rPr lang="ru-RU" dirty="0" smtClean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76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574</Words>
  <Application>Microsoft Office PowerPoint</Application>
  <PresentationFormat>Широкоэкранный</PresentationFormat>
  <Paragraphs>140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71</cp:revision>
  <dcterms:created xsi:type="dcterms:W3CDTF">2022-04-24T14:48:16Z</dcterms:created>
  <dcterms:modified xsi:type="dcterms:W3CDTF">2022-05-18T17:25:45Z</dcterms:modified>
</cp:coreProperties>
</file>