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477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411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036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436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623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738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458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37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77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552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7000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F478D-329E-4BB8-B112-3EC50815D223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DF7FB2-66FC-46EE-848A-704DCB3A17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24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4328115" y="1256414"/>
            <a:ext cx="3466012" cy="4084320"/>
          </a:xfrm>
          <a:prstGeom prst="round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812" y="1426411"/>
            <a:ext cx="2719052" cy="1597290"/>
          </a:xfrm>
          <a:prstGeom prst="rect">
            <a:avLst/>
          </a:prstGeom>
        </p:spPr>
      </p:pic>
      <p:sp>
        <p:nvSpPr>
          <p:cNvPr id="10" name="Скругленный прямоугольник 9"/>
          <p:cNvSpPr/>
          <p:nvPr/>
        </p:nvSpPr>
        <p:spPr>
          <a:xfrm>
            <a:off x="4615497" y="3570710"/>
            <a:ext cx="2708367" cy="14717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ПИД-регулятор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12" name="Прямая соединительная линия 11"/>
          <p:cNvCxnSpPr>
            <a:stCxn id="9" idx="3"/>
          </p:cNvCxnSpPr>
          <p:nvPr/>
        </p:nvCxnSpPr>
        <p:spPr>
          <a:xfrm>
            <a:off x="7323864" y="2225056"/>
            <a:ext cx="1045029" cy="15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7309812" y="4321638"/>
            <a:ext cx="10590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8368893" y="2240110"/>
            <a:ext cx="0" cy="2081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8368893" y="3174396"/>
            <a:ext cx="421944" cy="6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8790837" y="2444561"/>
            <a:ext cx="2708367" cy="147174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>
                <a:solidFill>
                  <a:schemeClr val="tx1"/>
                </a:solidFill>
              </a:rPr>
              <a:t>Объект управления</a:t>
            </a:r>
          </a:p>
          <a:p>
            <a:pPr algn="ctr"/>
            <a:r>
              <a:rPr lang="ru-RU" dirty="0" smtClean="0">
                <a:solidFill>
                  <a:schemeClr val="tx1"/>
                </a:solidFill>
              </a:rPr>
              <a:t>ТС аккумуляторного типа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1" name="Прямая соединительная линия 20"/>
          <p:cNvCxnSpPr>
            <a:stCxn id="18" idx="3"/>
          </p:cNvCxnSpPr>
          <p:nvPr/>
        </p:nvCxnSpPr>
        <p:spPr>
          <a:xfrm flipV="1">
            <a:off x="11499204" y="3180435"/>
            <a:ext cx="35402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>
            <a:off x="11840887" y="3180436"/>
            <a:ext cx="0" cy="28720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flipH="1">
            <a:off x="3817338" y="6052457"/>
            <a:ext cx="80358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>
            <a:endCxn id="32" idx="2"/>
          </p:cNvCxnSpPr>
          <p:nvPr/>
        </p:nvCxnSpPr>
        <p:spPr>
          <a:xfrm flipH="1" flipV="1">
            <a:off x="3794904" y="4482943"/>
            <a:ext cx="22434" cy="15695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Овал 27"/>
          <p:cNvSpPr/>
          <p:nvPr/>
        </p:nvSpPr>
        <p:spPr>
          <a:xfrm>
            <a:off x="3599623" y="4126281"/>
            <a:ext cx="400595" cy="3764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3676675" y="4113611"/>
            <a:ext cx="236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</a:t>
            </a:r>
            <a:endParaRPr lang="ru-RU" dirty="0"/>
          </a:p>
        </p:txBody>
      </p:sp>
      <p:cxnSp>
        <p:nvCxnSpPr>
          <p:cNvPr id="35" name="Прямая соединительная линия 34"/>
          <p:cNvCxnSpPr>
            <a:stCxn id="28" idx="6"/>
            <a:endCxn id="10" idx="1"/>
          </p:cNvCxnSpPr>
          <p:nvPr/>
        </p:nvCxnSpPr>
        <p:spPr>
          <a:xfrm flipV="1">
            <a:off x="4000218" y="4306585"/>
            <a:ext cx="615279" cy="79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>
            <a:stCxn id="28" idx="2"/>
          </p:cNvCxnSpPr>
          <p:nvPr/>
        </p:nvCxnSpPr>
        <p:spPr>
          <a:xfrm flipH="1" flipV="1">
            <a:off x="3395650" y="4314510"/>
            <a:ext cx="203973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Скругленный прямоугольник 47"/>
          <p:cNvSpPr/>
          <p:nvPr/>
        </p:nvSpPr>
        <p:spPr>
          <a:xfrm>
            <a:off x="333099" y="2444561"/>
            <a:ext cx="2698906" cy="14792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Уставка </a:t>
            </a:r>
            <a:r>
              <a:rPr lang="ru-RU" dirty="0"/>
              <a:t>д</a:t>
            </a:r>
            <a:r>
              <a:rPr lang="ru-RU" dirty="0" smtClean="0"/>
              <a:t>авления</a:t>
            </a:r>
            <a:endParaRPr lang="ru-RU" dirty="0"/>
          </a:p>
        </p:txBody>
      </p:sp>
      <p:cxnSp>
        <p:nvCxnSpPr>
          <p:cNvPr id="50" name="Прямая соединительная линия 49"/>
          <p:cNvCxnSpPr>
            <a:stCxn id="48" idx="3"/>
          </p:cNvCxnSpPr>
          <p:nvPr/>
        </p:nvCxnSpPr>
        <p:spPr>
          <a:xfrm>
            <a:off x="3032005" y="3184179"/>
            <a:ext cx="341683" cy="6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/>
          <p:cNvCxnSpPr/>
          <p:nvPr/>
        </p:nvCxnSpPr>
        <p:spPr>
          <a:xfrm>
            <a:off x="3379068" y="3200232"/>
            <a:ext cx="0" cy="1121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единительная линия 54"/>
          <p:cNvCxnSpPr>
            <a:stCxn id="9" idx="1"/>
          </p:cNvCxnSpPr>
          <p:nvPr/>
        </p:nvCxnSpPr>
        <p:spPr>
          <a:xfrm flipH="1">
            <a:off x="3362487" y="2225056"/>
            <a:ext cx="1242325" cy="15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/>
          <p:cNvCxnSpPr/>
          <p:nvPr/>
        </p:nvCxnSpPr>
        <p:spPr>
          <a:xfrm flipV="1">
            <a:off x="3379068" y="2240110"/>
            <a:ext cx="0" cy="960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484622" y="380391"/>
            <a:ext cx="30952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Комбинированный регулятор</a:t>
            </a:r>
          </a:p>
          <a:p>
            <a:r>
              <a:rPr lang="ru-RU" dirty="0" smtClean="0"/>
              <a:t> управления давлением в ТС</a:t>
            </a:r>
            <a:endParaRPr lang="ru-RU" dirty="0"/>
          </a:p>
        </p:txBody>
      </p:sp>
      <p:sp>
        <p:nvSpPr>
          <p:cNvPr id="60" name="TextBox 59"/>
          <p:cNvSpPr txBox="1"/>
          <p:nvPr/>
        </p:nvSpPr>
        <p:spPr>
          <a:xfrm>
            <a:off x="8436813" y="5495365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</a:t>
            </a:r>
            <a:r>
              <a:rPr lang="ru-RU" sz="1000" dirty="0" err="1" smtClean="0"/>
              <a:t>ак</a:t>
            </a:r>
            <a:endParaRPr lang="ru-RU" sz="1000" dirty="0"/>
          </a:p>
        </p:txBody>
      </p:sp>
      <p:cxnSp>
        <p:nvCxnSpPr>
          <p:cNvPr id="62" name="Прямая со стрелкой 61"/>
          <p:cNvCxnSpPr/>
          <p:nvPr/>
        </p:nvCxnSpPr>
        <p:spPr>
          <a:xfrm flipH="1">
            <a:off x="8436813" y="1326776"/>
            <a:ext cx="492034" cy="1488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8368893" y="764190"/>
            <a:ext cx="35522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ШИМ сигнал управления </a:t>
            </a:r>
          </a:p>
          <a:p>
            <a:r>
              <a:rPr lang="ru-RU" dirty="0" smtClean="0"/>
              <a:t>дросселирующим клапаном ТНВД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348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/>
          <p:cNvGraphicFramePr>
            <a:graphicFrameLocks noChangeAspect="1"/>
          </p:cNvGraphicFramePr>
          <p:nvPr>
            <p:extLst/>
          </p:nvPr>
        </p:nvGraphicFramePr>
        <p:xfrm>
          <a:off x="539749" y="1588144"/>
          <a:ext cx="5394325" cy="168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3" imgW="2806560" imgH="825480" progId="Equation.DSMT4">
                  <p:embed/>
                </p:oleObj>
              </mc:Choice>
              <mc:Fallback>
                <p:oleObj name="Equation" r:id="rId3" imgW="2806560" imgH="825480" progId="Equation.DSMT4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49" y="1588144"/>
                        <a:ext cx="5394325" cy="16843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1717" y="432919"/>
            <a:ext cx="115802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алгоритма ПИД регулятора– основные уравнения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286327" y="3732618"/>
                <a:ext cx="6406879" cy="8106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𝑇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уст</m:t>
                              </m:r>
                            </m:sub>
                          </m:s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(выход)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ru-RU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уст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выход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уст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вход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27" y="3732618"/>
                <a:ext cx="6406879" cy="8106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539749" y="4893032"/>
                <a:ext cx="4734215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изм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(выход)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изм</m:t>
                            </m:r>
                          </m:sub>
                        </m:s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(вход</m:t>
                        </m:r>
                      </m:e>
                    </m:nary>
                  </m:oMath>
                </a14:m>
                <a:r>
                  <a:rPr lang="ru-RU" sz="2400" dirty="0" smtClean="0"/>
                  <a:t>)</a:t>
                </a:r>
                <a:endParaRPr lang="ru-RU" sz="2400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49" y="4893032"/>
                <a:ext cx="4734215" cy="613886"/>
              </a:xfrm>
              <a:prstGeom prst="rect">
                <a:avLst/>
              </a:prstGeom>
              <a:blipFill>
                <a:blip r:embed="rId6"/>
                <a:stretch>
                  <a:fillRect b="-11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2906856" y="2872372"/>
            <a:ext cx="2881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</a:t>
            </a:r>
            <a:r>
              <a:rPr lang="ru-RU" sz="2000" dirty="0" smtClean="0"/>
              <a:t>ошибка регулирования </a:t>
            </a:r>
            <a:endParaRPr lang="ru-RU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500571" y="3967805"/>
            <a:ext cx="4523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 </a:t>
            </a:r>
            <a:r>
              <a:rPr lang="ru-RU" sz="2000" dirty="0" smtClean="0"/>
              <a:t>апериодический фильтр уставки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273964" y="4999920"/>
            <a:ext cx="3568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- </a:t>
            </a:r>
            <a:r>
              <a:rPr lang="ru-RU" sz="2000" dirty="0" smtClean="0"/>
              <a:t>фильтр </a:t>
            </a:r>
            <a:r>
              <a:rPr lang="ru-RU" sz="2000" dirty="0"/>
              <a:t>скользящего среднего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58197" y="1990424"/>
            <a:ext cx="2423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 smtClean="0"/>
              <a:t>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992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13" y="1027611"/>
            <a:ext cx="7743899" cy="4534989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329882" y="1345474"/>
            <a:ext cx="3618072" cy="10668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072979" y="2412274"/>
            <a:ext cx="3618072" cy="87847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875653" y="3290751"/>
            <a:ext cx="1815398" cy="152018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092966" y="676883"/>
            <a:ext cx="1960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Уставка давления 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575288" y="3926365"/>
            <a:ext cx="15457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Входящее давление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3121059" y="5382398"/>
            <a:ext cx="2926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Коэффициенты для ПИД регулятора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7955280" y="908259"/>
            <a:ext cx="1323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Выходной сигнал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493725" y="4733865"/>
            <a:ext cx="1649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ПИД регулятор</a:t>
            </a:r>
            <a:endParaRPr lang="ru-RU" dirty="0"/>
          </a:p>
        </p:txBody>
      </p:sp>
      <p:cxnSp>
        <p:nvCxnSpPr>
          <p:cNvPr id="12" name="Прямая со стрелкой 11"/>
          <p:cNvCxnSpPr/>
          <p:nvPr/>
        </p:nvCxnSpPr>
        <p:spPr>
          <a:xfrm>
            <a:off x="1797783" y="1009356"/>
            <a:ext cx="550391" cy="44413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 flipV="1">
            <a:off x="1797783" y="3309007"/>
            <a:ext cx="403648" cy="6153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 flipV="1">
            <a:off x="3537489" y="4795530"/>
            <a:ext cx="403648" cy="6153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flipH="1" flipV="1">
            <a:off x="7759338" y="4388944"/>
            <a:ext cx="391885" cy="4065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8318438" y="1567543"/>
            <a:ext cx="85333" cy="5747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6748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291" y="1734861"/>
            <a:ext cx="9730876" cy="487725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3622766" y="1734861"/>
            <a:ext cx="3291840" cy="12957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/>
          <p:cNvSpPr/>
          <p:nvPr/>
        </p:nvSpPr>
        <p:spPr>
          <a:xfrm>
            <a:off x="2682240" y="3030583"/>
            <a:ext cx="4232366" cy="12957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2682240" y="4326305"/>
            <a:ext cx="4232366" cy="17000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6914607" y="1663337"/>
            <a:ext cx="1062444" cy="1586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 flipV="1">
            <a:off x="6914607" y="4129718"/>
            <a:ext cx="1471747" cy="75579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 flipV="1">
            <a:off x="6927671" y="6026331"/>
            <a:ext cx="1815735" cy="1306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25097" y="1365529"/>
            <a:ext cx="26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Пропорциональная часть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8386354" y="4763589"/>
            <a:ext cx="2109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Интегральная часть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8743406" y="6091645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Дифференциальная часть</a:t>
            </a:r>
            <a:endParaRPr lang="ru-RU" dirty="0"/>
          </a:p>
        </p:txBody>
      </p:sp>
      <p:cxnSp>
        <p:nvCxnSpPr>
          <p:cNvPr id="18" name="Прямая со стрелкой 17"/>
          <p:cNvCxnSpPr/>
          <p:nvPr/>
        </p:nvCxnSpPr>
        <p:spPr>
          <a:xfrm flipH="1">
            <a:off x="9659756" y="3030583"/>
            <a:ext cx="444760" cy="59614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104516" y="2634216"/>
            <a:ext cx="16868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Выходной сигнал с регулятора</a:t>
            </a:r>
            <a:endParaRPr lang="ru-RU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2830286" y="1428206"/>
            <a:ext cx="191589" cy="13279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3806" y="1067911"/>
            <a:ext cx="2499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Ошибка регулирования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4323593" y="533002"/>
            <a:ext cx="298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Программа  ПИД регулятора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966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87632" y="513805"/>
            <a:ext cx="3275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Фильтр скользящего среднего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5998415" y="2127345"/>
                <a:ext cx="4734215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изм</m:t>
                        </m:r>
                      </m:sub>
                    </m:sSub>
                    <m:r>
                      <a:rPr lang="ru-RU" sz="2400" b="0" i="1" smtClean="0">
                        <a:latin typeface="Cambria Math" panose="02040503050406030204" pitchFamily="18" charset="0"/>
                      </a:rPr>
                      <m:t>(выход)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ru-RU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ru-RU" sz="2400" b="0" i="1" smtClean="0">
                                <a:latin typeface="Cambria Math" panose="02040503050406030204" pitchFamily="18" charset="0"/>
                              </a:rPr>
                              <m:t>изм</m:t>
                            </m:r>
                          </m:sub>
                        </m:sSub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(вход</m:t>
                        </m:r>
                      </m:e>
                    </m:nary>
                  </m:oMath>
                </a14:m>
                <a:r>
                  <a:rPr lang="ru-RU" sz="2400" dirty="0" smtClean="0"/>
                  <a:t>)</a:t>
                </a:r>
                <a:endParaRPr lang="ru-RU" sz="24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415" y="2127345"/>
                <a:ext cx="4734215" cy="613886"/>
              </a:xfrm>
              <a:prstGeom prst="rect">
                <a:avLst/>
              </a:prstGeom>
              <a:blipFill>
                <a:blip r:embed="rId2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20" y="1681018"/>
            <a:ext cx="5395595" cy="154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820" y="4137891"/>
            <a:ext cx="5395595" cy="1473634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5998415" y="4290344"/>
                <a:ext cx="6101220" cy="8106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i="1" smtClean="0">
                          <a:latin typeface="Cambria Math" panose="02040503050406030204" pitchFamily="18" charset="0"/>
                        </a:rPr>
                        <m:t>𝑇</m:t>
                      </m:r>
                      <m:f>
                        <m:f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уст</m:t>
                              </m:r>
                            </m:sub>
                          </m:s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(выход)</m:t>
                          </m:r>
                        </m:num>
                        <m:den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𝑑𝑇</m:t>
                          </m:r>
                        </m:den>
                      </m:f>
                      <m:r>
                        <a:rPr lang="ru-RU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уст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выход</m:t>
                          </m:r>
                        </m:e>
                      </m:d>
                      <m:r>
                        <a:rPr lang="ru-RU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уст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вход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415" y="4290344"/>
                <a:ext cx="6101220" cy="8106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4121098" y="3537334"/>
            <a:ext cx="4008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Апериодический фильтр уставки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4382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36026" y="655399"/>
            <a:ext cx="2950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Модель топливной системы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1380284"/>
            <a:ext cx="10333037" cy="49998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219200" y="3535680"/>
            <a:ext cx="9865360" cy="26924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/>
          <p:cNvCxnSpPr/>
          <p:nvPr/>
        </p:nvCxnSpPr>
        <p:spPr>
          <a:xfrm flipH="1">
            <a:off x="7840136" y="2941320"/>
            <a:ext cx="1154731" cy="5943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/>
          <p:nvPr/>
        </p:nvCxnSpPr>
        <p:spPr>
          <a:xfrm flipH="1" flipV="1">
            <a:off x="2902218" y="2074828"/>
            <a:ext cx="511542" cy="8664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1310640" y="1083104"/>
            <a:ext cx="677178" cy="59570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413760" y="2941320"/>
            <a:ext cx="239204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72834" y="2684502"/>
            <a:ext cx="1660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ПИД-Регулятор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5808918" y="2757101"/>
            <a:ext cx="1843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Топливная рейка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485734" y="713772"/>
            <a:ext cx="1649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Блок форсунок</a:t>
            </a:r>
            <a:endParaRPr lang="ru-RU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 flipH="1" flipV="1">
            <a:off x="5452536" y="1886912"/>
            <a:ext cx="978744" cy="1998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/>
          <p:nvPr/>
        </p:nvCxnSpPr>
        <p:spPr>
          <a:xfrm flipH="1">
            <a:off x="5437300" y="2223948"/>
            <a:ext cx="993980" cy="25144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31280" y="1934835"/>
            <a:ext cx="2563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Ограничители давления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0402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520" y="2812414"/>
            <a:ext cx="6777355" cy="35071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1886464" y="782320"/>
            <a:ext cx="8472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Моделирование гидравлического аккумулятора управление </a:t>
            </a:r>
            <a:r>
              <a:rPr lang="ru-RU" smtClean="0"/>
              <a:t>инерциальным звеном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52123" y="1657970"/>
                <a:ext cx="6786153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−апериадичное звено 2−ого порядка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2123" y="1657970"/>
                <a:ext cx="6786153" cy="648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912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719" y="1219200"/>
            <a:ext cx="8788400" cy="39827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4000250" y="447040"/>
            <a:ext cx="4181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Подбор коэффициентов ПИД-Регулятора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696719" y="5604748"/>
            <a:ext cx="92936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 результатам калибровки, для </a:t>
            </a:r>
            <a:r>
              <a:rPr lang="en-US" dirty="0" smtClean="0"/>
              <a:t>p</a:t>
            </a:r>
            <a:r>
              <a:rPr lang="ru-RU" sz="1200" dirty="0" smtClean="0"/>
              <a:t>уст</a:t>
            </a:r>
            <a:r>
              <a:rPr lang="ru-RU" dirty="0" smtClean="0"/>
              <a:t>=1500 МПа </a:t>
            </a:r>
            <a:r>
              <a:rPr lang="ru-RU" dirty="0"/>
              <a:t>были подобраны следующие коэффициенты:</a:t>
            </a:r>
          </a:p>
          <a:p>
            <a:r>
              <a:rPr lang="en-US" i="1" dirty="0"/>
              <a:t>P</a:t>
            </a:r>
            <a:r>
              <a:rPr lang="ru-RU" dirty="0"/>
              <a:t>=0.22, </a:t>
            </a:r>
            <a:r>
              <a:rPr lang="en-US" i="1" dirty="0"/>
              <a:t>I</a:t>
            </a:r>
            <a:r>
              <a:rPr lang="ru-RU" dirty="0"/>
              <a:t>=0.</a:t>
            </a:r>
            <a:r>
              <a:rPr lang="en-US" dirty="0"/>
              <a:t>005</a:t>
            </a:r>
            <a:r>
              <a:rPr lang="ru-RU" dirty="0"/>
              <a:t>, </a:t>
            </a:r>
            <a:r>
              <a:rPr lang="en-US" i="1" dirty="0"/>
              <a:t>D</a:t>
            </a:r>
            <a:r>
              <a:rPr lang="ru-RU" dirty="0"/>
              <a:t>=</a:t>
            </a:r>
            <a:r>
              <a:rPr lang="en-US" dirty="0"/>
              <a:t>-0.23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856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773" y="170769"/>
            <a:ext cx="2933700" cy="216217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2773" y="2375261"/>
            <a:ext cx="2981325" cy="21621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2773" y="4537436"/>
            <a:ext cx="3009900" cy="2162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55771" y="1067190"/>
            <a:ext cx="4146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ПИД регулятор долго выходит на режим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355771" y="3271682"/>
            <a:ext cx="2166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Перерегулирование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355771" y="5433857"/>
            <a:ext cx="332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Приемлемая работа регулятора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1078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53332" y="416560"/>
            <a:ext cx="4555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Проект алгоритма управления ТС по модели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316" y="714018"/>
            <a:ext cx="9019510" cy="614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42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65" y="346710"/>
            <a:ext cx="4857750" cy="30099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65" y="3569970"/>
            <a:ext cx="4857750" cy="300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86649" y="903148"/>
            <a:ext cx="5538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Характеристика впрыскивания при давлении 100МПа.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925125" y="3569970"/>
            <a:ext cx="5538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Характеристика впрыскивания при давлении 150МПа.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886649" y="5313462"/>
            <a:ext cx="6350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Предположительно, используя комбинированный регулятор удастся обеспечить желаемую форму характеристики впрыскивания на всех режимах (см. 100МПа).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925123" y="1389995"/>
            <a:ext cx="54614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Давление хорошо поддерживается </a:t>
            </a:r>
            <a:r>
              <a:rPr lang="ru-RU" dirty="0" smtClean="0"/>
              <a:t>с помощью </a:t>
            </a:r>
            <a:r>
              <a:rPr lang="ru-RU" dirty="0"/>
              <a:t>ПИД </a:t>
            </a:r>
            <a:r>
              <a:rPr lang="ru-RU" dirty="0" smtClean="0"/>
              <a:t>регулятора.</a:t>
            </a:r>
            <a:endParaRPr lang="ru-RU" dirty="0"/>
          </a:p>
          <a:p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5925123" y="4272617"/>
            <a:ext cx="5682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Качество регулирования ухудшается, что приводит к </a:t>
            </a:r>
          </a:p>
          <a:p>
            <a:r>
              <a:rPr lang="ru-RU" dirty="0" smtClean="0"/>
              <a:t>      нарушению формы характеристики впрыскивания.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1922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192</Words>
  <Application>Microsoft Office PowerPoint</Application>
  <PresentationFormat>Широкоэкранный</PresentationFormat>
  <Paragraphs>52</Paragraphs>
  <Slides>11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Тема Office</vt:lpstr>
      <vt:lpstr>Equation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11</cp:revision>
  <dcterms:created xsi:type="dcterms:W3CDTF">2022-03-27T15:37:07Z</dcterms:created>
  <dcterms:modified xsi:type="dcterms:W3CDTF">2022-03-27T19:29:51Z</dcterms:modified>
</cp:coreProperties>
</file>