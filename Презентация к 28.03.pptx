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wmf" ContentType="image/x-w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56" r:id="rId3"/>
    <p:sldId id="257" r:id="rId4"/>
    <p:sldId id="258" r:id="rId5"/>
    <p:sldId id="259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65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wmf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4F478D-329E-4BB8-B112-3EC50815D223}" type="datetimeFigureOut">
              <a:rPr lang="ru-RU" smtClean="0"/>
              <a:t>27.03.2022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DF7FB2-66FC-46EE-848A-704DCB3A170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84777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4F478D-329E-4BB8-B112-3EC50815D223}" type="datetimeFigureOut">
              <a:rPr lang="ru-RU" smtClean="0"/>
              <a:t>27.03.2022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DF7FB2-66FC-46EE-848A-704DCB3A170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141181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4F478D-329E-4BB8-B112-3EC50815D223}" type="datetimeFigureOut">
              <a:rPr lang="ru-RU" smtClean="0"/>
              <a:t>27.03.2022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DF7FB2-66FC-46EE-848A-704DCB3A170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230360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4F478D-329E-4BB8-B112-3EC50815D223}" type="datetimeFigureOut">
              <a:rPr lang="ru-RU" smtClean="0"/>
              <a:t>27.03.2022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DF7FB2-66FC-46EE-848A-704DCB3A170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24365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4F478D-329E-4BB8-B112-3EC50815D223}" type="datetimeFigureOut">
              <a:rPr lang="ru-RU" smtClean="0"/>
              <a:t>27.03.2022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DF7FB2-66FC-46EE-848A-704DCB3A170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926235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4F478D-329E-4BB8-B112-3EC50815D223}" type="datetimeFigureOut">
              <a:rPr lang="ru-RU" smtClean="0"/>
              <a:t>27.03.2022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DF7FB2-66FC-46EE-848A-704DCB3A170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773898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4F478D-329E-4BB8-B112-3EC50815D223}" type="datetimeFigureOut">
              <a:rPr lang="ru-RU" smtClean="0"/>
              <a:t>27.03.2022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DF7FB2-66FC-46EE-848A-704DCB3A170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345878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4F478D-329E-4BB8-B112-3EC50815D223}" type="datetimeFigureOut">
              <a:rPr lang="ru-RU" smtClean="0"/>
              <a:t>27.03.2022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DF7FB2-66FC-46EE-848A-704DCB3A170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343715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4F478D-329E-4BB8-B112-3EC50815D223}" type="datetimeFigureOut">
              <a:rPr lang="ru-RU" smtClean="0"/>
              <a:t>27.03.2022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DF7FB2-66FC-46EE-848A-704DCB3A170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187770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4F478D-329E-4BB8-B112-3EC50815D223}" type="datetimeFigureOut">
              <a:rPr lang="ru-RU" smtClean="0"/>
              <a:t>27.03.2022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DF7FB2-66FC-46EE-848A-704DCB3A170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17552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4F478D-329E-4BB8-B112-3EC50815D223}" type="datetimeFigureOut">
              <a:rPr lang="ru-RU" smtClean="0"/>
              <a:t>27.03.2022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DF7FB2-66FC-46EE-848A-704DCB3A170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770000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4F478D-329E-4BB8-B112-3EC50815D223}" type="datetimeFigureOut">
              <a:rPr lang="ru-RU" smtClean="0"/>
              <a:t>27.03.2022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DF7FB2-66FC-46EE-848A-704DCB3A170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782486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2.wmf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Скругленный прямоугольник 6"/>
          <p:cNvSpPr/>
          <p:nvPr/>
        </p:nvSpPr>
        <p:spPr>
          <a:xfrm>
            <a:off x="4328115" y="1256414"/>
            <a:ext cx="3466012" cy="4084320"/>
          </a:xfrm>
          <a:prstGeom prst="round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4812" y="1426411"/>
            <a:ext cx="2719052" cy="1597290"/>
          </a:xfrm>
          <a:prstGeom prst="rect">
            <a:avLst/>
          </a:prstGeom>
        </p:spPr>
      </p:pic>
      <p:sp>
        <p:nvSpPr>
          <p:cNvPr id="10" name="Скругленный прямоугольник 9"/>
          <p:cNvSpPr/>
          <p:nvPr/>
        </p:nvSpPr>
        <p:spPr>
          <a:xfrm>
            <a:off x="4615497" y="3570710"/>
            <a:ext cx="2708367" cy="147174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ПИД-регулятор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12" name="Прямая соединительная линия 11"/>
          <p:cNvCxnSpPr>
            <a:stCxn id="9" idx="3"/>
          </p:cNvCxnSpPr>
          <p:nvPr/>
        </p:nvCxnSpPr>
        <p:spPr>
          <a:xfrm>
            <a:off x="7323864" y="2225056"/>
            <a:ext cx="1045029" cy="1505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/>
          <p:cNvCxnSpPr/>
          <p:nvPr/>
        </p:nvCxnSpPr>
        <p:spPr>
          <a:xfrm>
            <a:off x="7309812" y="4321638"/>
            <a:ext cx="105908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/>
          <p:cNvCxnSpPr/>
          <p:nvPr/>
        </p:nvCxnSpPr>
        <p:spPr>
          <a:xfrm>
            <a:off x="8368893" y="2240110"/>
            <a:ext cx="0" cy="208152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/>
          <p:cNvCxnSpPr/>
          <p:nvPr/>
        </p:nvCxnSpPr>
        <p:spPr>
          <a:xfrm>
            <a:off x="8368893" y="3174396"/>
            <a:ext cx="421944" cy="60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Скругленный прямоугольник 17"/>
          <p:cNvSpPr/>
          <p:nvPr/>
        </p:nvSpPr>
        <p:spPr>
          <a:xfrm>
            <a:off x="8790837" y="2444561"/>
            <a:ext cx="2708367" cy="147174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Объект управления</a:t>
            </a:r>
          </a:p>
          <a:p>
            <a:pPr algn="ctr"/>
            <a:r>
              <a:rPr lang="ru-RU" dirty="0" smtClean="0">
                <a:solidFill>
                  <a:schemeClr val="tx1"/>
                </a:solidFill>
              </a:rPr>
              <a:t>ТС аккумуляторного типа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21" name="Прямая соединительная линия 20"/>
          <p:cNvCxnSpPr>
            <a:stCxn id="18" idx="3"/>
          </p:cNvCxnSpPr>
          <p:nvPr/>
        </p:nvCxnSpPr>
        <p:spPr>
          <a:xfrm flipV="1">
            <a:off x="11499204" y="3180435"/>
            <a:ext cx="354023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единительная линия 22"/>
          <p:cNvCxnSpPr/>
          <p:nvPr/>
        </p:nvCxnSpPr>
        <p:spPr>
          <a:xfrm>
            <a:off x="11840887" y="3180436"/>
            <a:ext cx="0" cy="28720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единительная линия 24"/>
          <p:cNvCxnSpPr/>
          <p:nvPr/>
        </p:nvCxnSpPr>
        <p:spPr>
          <a:xfrm flipH="1">
            <a:off x="3817338" y="6052457"/>
            <a:ext cx="803588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Прямая соединительная линия 26"/>
          <p:cNvCxnSpPr>
            <a:endCxn id="32" idx="2"/>
          </p:cNvCxnSpPr>
          <p:nvPr/>
        </p:nvCxnSpPr>
        <p:spPr>
          <a:xfrm flipH="1" flipV="1">
            <a:off x="3794904" y="4482943"/>
            <a:ext cx="22434" cy="156951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Овал 27"/>
          <p:cNvSpPr/>
          <p:nvPr/>
        </p:nvSpPr>
        <p:spPr>
          <a:xfrm>
            <a:off x="3599623" y="4126281"/>
            <a:ext cx="400595" cy="376459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2" name="TextBox 31"/>
          <p:cNvSpPr txBox="1"/>
          <p:nvPr/>
        </p:nvSpPr>
        <p:spPr>
          <a:xfrm>
            <a:off x="3676675" y="4113611"/>
            <a:ext cx="2364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-</a:t>
            </a:r>
            <a:endParaRPr lang="ru-RU" dirty="0"/>
          </a:p>
        </p:txBody>
      </p:sp>
      <p:cxnSp>
        <p:nvCxnSpPr>
          <p:cNvPr id="35" name="Прямая соединительная линия 34"/>
          <p:cNvCxnSpPr>
            <a:stCxn id="28" idx="6"/>
            <a:endCxn id="10" idx="1"/>
          </p:cNvCxnSpPr>
          <p:nvPr/>
        </p:nvCxnSpPr>
        <p:spPr>
          <a:xfrm flipV="1">
            <a:off x="4000218" y="4306585"/>
            <a:ext cx="615279" cy="79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/>
          <p:cNvCxnSpPr>
            <a:stCxn id="28" idx="2"/>
          </p:cNvCxnSpPr>
          <p:nvPr/>
        </p:nvCxnSpPr>
        <p:spPr>
          <a:xfrm flipH="1" flipV="1">
            <a:off x="3395650" y="4314510"/>
            <a:ext cx="203973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Скругленный прямоугольник 47"/>
          <p:cNvSpPr/>
          <p:nvPr/>
        </p:nvSpPr>
        <p:spPr>
          <a:xfrm>
            <a:off x="333099" y="2444561"/>
            <a:ext cx="2698906" cy="147923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Уставка </a:t>
            </a:r>
            <a:r>
              <a:rPr lang="ru-RU" dirty="0"/>
              <a:t>д</a:t>
            </a:r>
            <a:r>
              <a:rPr lang="ru-RU" dirty="0" smtClean="0"/>
              <a:t>авления</a:t>
            </a:r>
            <a:endParaRPr lang="ru-RU" dirty="0"/>
          </a:p>
        </p:txBody>
      </p:sp>
      <p:cxnSp>
        <p:nvCxnSpPr>
          <p:cNvPr id="50" name="Прямая соединительная линия 49"/>
          <p:cNvCxnSpPr>
            <a:stCxn id="48" idx="3"/>
          </p:cNvCxnSpPr>
          <p:nvPr/>
        </p:nvCxnSpPr>
        <p:spPr>
          <a:xfrm>
            <a:off x="3032005" y="3184179"/>
            <a:ext cx="341683" cy="665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Прямая соединительная линия 51"/>
          <p:cNvCxnSpPr/>
          <p:nvPr/>
        </p:nvCxnSpPr>
        <p:spPr>
          <a:xfrm>
            <a:off x="3379068" y="3200232"/>
            <a:ext cx="0" cy="11214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Прямая соединительная линия 54"/>
          <p:cNvCxnSpPr>
            <a:stCxn id="9" idx="1"/>
          </p:cNvCxnSpPr>
          <p:nvPr/>
        </p:nvCxnSpPr>
        <p:spPr>
          <a:xfrm flipH="1">
            <a:off x="3362487" y="2225056"/>
            <a:ext cx="1242325" cy="1505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Прямая соединительная линия 56"/>
          <p:cNvCxnSpPr/>
          <p:nvPr/>
        </p:nvCxnSpPr>
        <p:spPr>
          <a:xfrm flipV="1">
            <a:off x="3379068" y="2240110"/>
            <a:ext cx="0" cy="96012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4484622" y="380391"/>
            <a:ext cx="309527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Комбинированный регулятор</a:t>
            </a:r>
          </a:p>
          <a:p>
            <a:r>
              <a:rPr lang="ru-RU" dirty="0" smtClean="0"/>
              <a:t> управления давлением в ТС</a:t>
            </a:r>
            <a:endParaRPr lang="ru-RU" dirty="0"/>
          </a:p>
        </p:txBody>
      </p:sp>
      <p:sp>
        <p:nvSpPr>
          <p:cNvPr id="60" name="TextBox 59"/>
          <p:cNvSpPr txBox="1"/>
          <p:nvPr/>
        </p:nvSpPr>
        <p:spPr>
          <a:xfrm>
            <a:off x="8436813" y="5495365"/>
            <a:ext cx="4235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P</a:t>
            </a:r>
            <a:r>
              <a:rPr lang="ru-RU" sz="1000" dirty="0" err="1" smtClean="0"/>
              <a:t>ак</a:t>
            </a:r>
            <a:endParaRPr lang="ru-RU" sz="1000" dirty="0"/>
          </a:p>
        </p:txBody>
      </p:sp>
      <p:cxnSp>
        <p:nvCxnSpPr>
          <p:cNvPr id="62" name="Прямая со стрелкой 61"/>
          <p:cNvCxnSpPr/>
          <p:nvPr/>
        </p:nvCxnSpPr>
        <p:spPr>
          <a:xfrm flipH="1">
            <a:off x="8436813" y="1326776"/>
            <a:ext cx="492034" cy="14881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8368893" y="764190"/>
            <a:ext cx="35522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ШИМ сигнал управления </a:t>
            </a:r>
          </a:p>
          <a:p>
            <a:r>
              <a:rPr lang="ru-RU" dirty="0" smtClean="0"/>
              <a:t>дросселирующим клапаном ТНВД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634820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Объект 4"/>
          <p:cNvGraphicFramePr>
            <a:graphicFrameLocks noChangeAspect="1"/>
          </p:cNvGraphicFramePr>
          <p:nvPr>
            <p:extLst/>
          </p:nvPr>
        </p:nvGraphicFramePr>
        <p:xfrm>
          <a:off x="539749" y="1588144"/>
          <a:ext cx="5394325" cy="16843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9" name="Equation" r:id="rId3" imgW="2806560" imgH="825480" progId="Equation.DSMT4">
                  <p:embed/>
                </p:oleObj>
              </mc:Choice>
              <mc:Fallback>
                <p:oleObj name="Equation" r:id="rId3" imgW="2806560" imgH="825480" progId="Equation.DSMT4">
                  <p:embed/>
                  <p:pic>
                    <p:nvPicPr>
                      <p:cNvPr id="5" name="Объект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9749" y="1588144"/>
                        <a:ext cx="5394325" cy="1684338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11717" y="432919"/>
            <a:ext cx="1158028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алгоритма ПИД регулятора– основные уравнения</a:t>
            </a:r>
            <a:endParaRPr lang="ru-RU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Прямоугольник 1"/>
              <p:cNvSpPr/>
              <p:nvPr/>
            </p:nvSpPr>
            <p:spPr>
              <a:xfrm>
                <a:off x="286327" y="3732618"/>
                <a:ext cx="6406879" cy="81067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400" i="1" smtClean="0">
                          <a:latin typeface="Cambria Math" panose="02040503050406030204" pitchFamily="18" charset="0"/>
                        </a:rPr>
                        <m:t>𝑇</m:t>
                      </m:r>
                      <m:f>
                        <m:fPr>
                          <m:ctrlPr>
                            <a:rPr lang="ru-RU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ru-RU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ru-RU" sz="2400" i="1">
                                  <a:latin typeface="Cambria Math" panose="02040503050406030204" pitchFamily="18" charset="0"/>
                                </a:rPr>
                                <m:t>уст</m:t>
                              </m:r>
                            </m:sub>
                          </m:sSub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(выход)</m:t>
                          </m:r>
                        </m:num>
                        <m:den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𝑑𝑇</m:t>
                          </m:r>
                        </m:den>
                      </m:f>
                      <m:r>
                        <a:rPr lang="ru-RU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ru-RU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уст</m:t>
                          </m:r>
                        </m:sub>
                      </m:sSub>
                      <m:d>
                        <m:dPr>
                          <m:ctrlPr>
                            <a:rPr lang="ru-RU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выход</m:t>
                          </m:r>
                        </m:e>
                      </m:d>
                      <m:r>
                        <a:rPr lang="ru-RU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уст</m:t>
                          </m:r>
                        </m:sub>
                      </m:sSub>
                      <m:d>
                        <m:dPr>
                          <m:ctrlPr>
                            <a:rPr lang="ru-RU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вход</m:t>
                          </m:r>
                        </m:e>
                      </m:d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2" name="Прямоугольник 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327" y="3732618"/>
                <a:ext cx="6406879" cy="81067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Прямоугольник 8"/>
              <p:cNvSpPr/>
              <p:nvPr/>
            </p:nvSpPr>
            <p:spPr>
              <a:xfrm>
                <a:off x="539749" y="4893032"/>
                <a:ext cx="4734215" cy="61388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ru-RU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ru-RU" sz="2400" i="1">
                            <a:latin typeface="Cambria Math" panose="02040503050406030204" pitchFamily="18" charset="0"/>
                          </a:rPr>
                          <m:t>изм</m:t>
                        </m:r>
                      </m:sub>
                    </m:sSub>
                    <m:r>
                      <a:rPr lang="ru-RU" sz="2400" b="0" i="1" smtClean="0">
                        <a:latin typeface="Cambria Math" panose="02040503050406030204" pitchFamily="18" charset="0"/>
                      </a:rPr>
                      <m:t>(выход)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sSub>
                          <m:sSubPr>
                            <m:ctrlPr>
                              <a:rPr lang="ru-RU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ru-RU" sz="2400" b="0" i="1" smtClean="0">
                                <a:latin typeface="Cambria Math" panose="02040503050406030204" pitchFamily="18" charset="0"/>
                              </a:rPr>
                              <m:t>изм</m:t>
                            </m:r>
                          </m:sub>
                        </m:sSub>
                        <m:r>
                          <a:rPr lang="ru-RU" sz="2400" b="0" i="1" smtClean="0">
                            <a:latin typeface="Cambria Math" panose="02040503050406030204" pitchFamily="18" charset="0"/>
                          </a:rPr>
                          <m:t>(вход</m:t>
                        </m:r>
                      </m:e>
                    </m:nary>
                  </m:oMath>
                </a14:m>
                <a:r>
                  <a:rPr lang="ru-RU" sz="2400" dirty="0" smtClean="0"/>
                  <a:t>)</a:t>
                </a:r>
                <a:endParaRPr lang="ru-RU" sz="2400" dirty="0"/>
              </a:p>
            </p:txBody>
          </p:sp>
        </mc:Choice>
        <mc:Fallback xmlns="">
          <p:sp>
            <p:nvSpPr>
              <p:cNvPr id="9" name="Прямоугольник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749" y="4893032"/>
                <a:ext cx="4734215" cy="613886"/>
              </a:xfrm>
              <a:prstGeom prst="rect">
                <a:avLst/>
              </a:prstGeom>
              <a:blipFill>
                <a:blip r:embed="rId6"/>
                <a:stretch>
                  <a:fillRect b="-11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/>
          <p:cNvSpPr txBox="1"/>
          <p:nvPr/>
        </p:nvSpPr>
        <p:spPr>
          <a:xfrm>
            <a:off x="2906856" y="2872372"/>
            <a:ext cx="28818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-</a:t>
            </a:r>
            <a:r>
              <a:rPr lang="ru-RU" sz="2000" dirty="0" smtClean="0"/>
              <a:t>ошибка регулирования </a:t>
            </a:r>
            <a:endParaRPr lang="ru-RU" sz="2000" dirty="0"/>
          </a:p>
        </p:txBody>
      </p:sp>
      <p:sp>
        <p:nvSpPr>
          <p:cNvPr id="10" name="TextBox 9"/>
          <p:cNvSpPr txBox="1"/>
          <p:nvPr/>
        </p:nvSpPr>
        <p:spPr>
          <a:xfrm>
            <a:off x="6500571" y="3967805"/>
            <a:ext cx="45232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- </a:t>
            </a:r>
            <a:r>
              <a:rPr lang="ru-RU" sz="2000" dirty="0" smtClean="0"/>
              <a:t>апериодический фильтр уставки</a:t>
            </a:r>
            <a:endParaRPr lang="ru-RU" dirty="0"/>
          </a:p>
        </p:txBody>
      </p:sp>
      <p:sp>
        <p:nvSpPr>
          <p:cNvPr id="12" name="TextBox 11"/>
          <p:cNvSpPr txBox="1"/>
          <p:nvPr/>
        </p:nvSpPr>
        <p:spPr>
          <a:xfrm>
            <a:off x="5273964" y="4999920"/>
            <a:ext cx="35688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- </a:t>
            </a:r>
            <a:r>
              <a:rPr lang="ru-RU" sz="2000" dirty="0" smtClean="0"/>
              <a:t>фильтр </a:t>
            </a:r>
            <a:r>
              <a:rPr lang="ru-RU" sz="2000" dirty="0"/>
              <a:t>скользящего среднего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58197" y="1990424"/>
            <a:ext cx="24237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 smtClean="0"/>
              <a:t> 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699204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5413" y="1027611"/>
            <a:ext cx="7743899" cy="4534989"/>
          </a:xfrm>
          <a:prstGeom prst="rect">
            <a:avLst/>
          </a:prstGeom>
        </p:spPr>
      </p:pic>
      <p:sp>
        <p:nvSpPr>
          <p:cNvPr id="4" name="Прямоугольник 3"/>
          <p:cNvSpPr/>
          <p:nvPr/>
        </p:nvSpPr>
        <p:spPr>
          <a:xfrm>
            <a:off x="2329882" y="1345474"/>
            <a:ext cx="3618072" cy="106680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2072979" y="2412274"/>
            <a:ext cx="3618072" cy="87847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3875653" y="3290751"/>
            <a:ext cx="1815398" cy="152018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/>
          <p:cNvSpPr txBox="1"/>
          <p:nvPr/>
        </p:nvSpPr>
        <p:spPr>
          <a:xfrm>
            <a:off x="1092966" y="676883"/>
            <a:ext cx="19600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Уставка давления 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1575288" y="3926365"/>
            <a:ext cx="15457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Входящее давление</a:t>
            </a:r>
            <a:endParaRPr lang="ru-RU" dirty="0"/>
          </a:p>
        </p:txBody>
      </p:sp>
      <p:sp>
        <p:nvSpPr>
          <p:cNvPr id="9" name="TextBox 8"/>
          <p:cNvSpPr txBox="1"/>
          <p:nvPr/>
        </p:nvSpPr>
        <p:spPr>
          <a:xfrm>
            <a:off x="3121059" y="5382398"/>
            <a:ext cx="29260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Коэффициенты для ПИД регулятора</a:t>
            </a:r>
            <a:endParaRPr lang="ru-RU" dirty="0"/>
          </a:p>
        </p:txBody>
      </p:sp>
      <p:sp>
        <p:nvSpPr>
          <p:cNvPr id="10" name="TextBox 9"/>
          <p:cNvSpPr txBox="1"/>
          <p:nvPr/>
        </p:nvSpPr>
        <p:spPr>
          <a:xfrm>
            <a:off x="7955280" y="908259"/>
            <a:ext cx="13237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Выходной сигнал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7493725" y="4733865"/>
            <a:ext cx="16494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ПИД регулятор</a:t>
            </a:r>
            <a:endParaRPr lang="ru-RU" dirty="0"/>
          </a:p>
        </p:txBody>
      </p:sp>
      <p:cxnSp>
        <p:nvCxnSpPr>
          <p:cNvPr id="12" name="Прямая со стрелкой 11"/>
          <p:cNvCxnSpPr/>
          <p:nvPr/>
        </p:nvCxnSpPr>
        <p:spPr>
          <a:xfrm>
            <a:off x="1797783" y="1009356"/>
            <a:ext cx="550391" cy="44413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 стрелкой 13"/>
          <p:cNvCxnSpPr/>
          <p:nvPr/>
        </p:nvCxnSpPr>
        <p:spPr>
          <a:xfrm flipV="1">
            <a:off x="1797783" y="3309007"/>
            <a:ext cx="403648" cy="61533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/>
          <p:nvPr/>
        </p:nvCxnSpPr>
        <p:spPr>
          <a:xfrm flipV="1">
            <a:off x="3537489" y="4795530"/>
            <a:ext cx="403648" cy="61533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Прямая со стрелкой 16"/>
          <p:cNvCxnSpPr/>
          <p:nvPr/>
        </p:nvCxnSpPr>
        <p:spPr>
          <a:xfrm flipH="1" flipV="1">
            <a:off x="7759338" y="4388944"/>
            <a:ext cx="391885" cy="40658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 стрелкой 20"/>
          <p:cNvCxnSpPr/>
          <p:nvPr/>
        </p:nvCxnSpPr>
        <p:spPr>
          <a:xfrm>
            <a:off x="8318438" y="1567543"/>
            <a:ext cx="85333" cy="57476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67488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5291" y="1734861"/>
            <a:ext cx="9730876" cy="4877257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3622766" y="1734861"/>
            <a:ext cx="3291840" cy="129572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Прямоугольник 3"/>
          <p:cNvSpPr/>
          <p:nvPr/>
        </p:nvSpPr>
        <p:spPr>
          <a:xfrm>
            <a:off x="2682240" y="3030583"/>
            <a:ext cx="4232366" cy="129572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2682240" y="4326305"/>
            <a:ext cx="4232366" cy="17000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7" name="Прямая со стрелкой 6"/>
          <p:cNvCxnSpPr/>
          <p:nvPr/>
        </p:nvCxnSpPr>
        <p:spPr>
          <a:xfrm flipH="1">
            <a:off x="6914607" y="1663337"/>
            <a:ext cx="1062444" cy="15861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Прямая со стрелкой 7"/>
          <p:cNvCxnSpPr/>
          <p:nvPr/>
        </p:nvCxnSpPr>
        <p:spPr>
          <a:xfrm flipH="1" flipV="1">
            <a:off x="6914607" y="4129718"/>
            <a:ext cx="1471747" cy="75579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Прямая со стрелкой 9"/>
          <p:cNvCxnSpPr/>
          <p:nvPr/>
        </p:nvCxnSpPr>
        <p:spPr>
          <a:xfrm flipH="1" flipV="1">
            <a:off x="6927671" y="6026331"/>
            <a:ext cx="1815735" cy="13062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125097" y="1365529"/>
            <a:ext cx="26805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Пропорциональная часть</a:t>
            </a:r>
            <a:endParaRPr lang="ru-RU" dirty="0"/>
          </a:p>
        </p:txBody>
      </p:sp>
      <p:sp>
        <p:nvSpPr>
          <p:cNvPr id="14" name="TextBox 13"/>
          <p:cNvSpPr txBox="1"/>
          <p:nvPr/>
        </p:nvSpPr>
        <p:spPr>
          <a:xfrm>
            <a:off x="8386354" y="4763589"/>
            <a:ext cx="21094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Интегральная часть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8743406" y="6091645"/>
            <a:ext cx="27222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Дифференциальная часть</a:t>
            </a:r>
            <a:endParaRPr lang="ru-RU" dirty="0"/>
          </a:p>
        </p:txBody>
      </p:sp>
      <p:cxnSp>
        <p:nvCxnSpPr>
          <p:cNvPr id="18" name="Прямая со стрелкой 17"/>
          <p:cNvCxnSpPr/>
          <p:nvPr/>
        </p:nvCxnSpPr>
        <p:spPr>
          <a:xfrm flipH="1">
            <a:off x="9659756" y="3030583"/>
            <a:ext cx="444760" cy="59614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104516" y="2634216"/>
            <a:ext cx="168689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Выходной сигнал с регулятора</a:t>
            </a:r>
            <a:endParaRPr lang="ru-RU" dirty="0"/>
          </a:p>
        </p:txBody>
      </p:sp>
      <p:cxnSp>
        <p:nvCxnSpPr>
          <p:cNvPr id="21" name="Прямая со стрелкой 20"/>
          <p:cNvCxnSpPr/>
          <p:nvPr/>
        </p:nvCxnSpPr>
        <p:spPr>
          <a:xfrm>
            <a:off x="2830286" y="1428206"/>
            <a:ext cx="191589" cy="132793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823806" y="1067911"/>
            <a:ext cx="24997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Ошибка регулирования</a:t>
            </a:r>
            <a:endParaRPr lang="ru-RU" dirty="0"/>
          </a:p>
        </p:txBody>
      </p:sp>
      <p:sp>
        <p:nvSpPr>
          <p:cNvPr id="25" name="TextBox 24"/>
          <p:cNvSpPr txBox="1"/>
          <p:nvPr/>
        </p:nvSpPr>
        <p:spPr>
          <a:xfrm>
            <a:off x="4323593" y="533002"/>
            <a:ext cx="2987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Программа  ПИД регулятора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296613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487632" y="513805"/>
            <a:ext cx="32755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Фильтр скользящего среднего</a:t>
            </a:r>
            <a:endParaRPr lang="ru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Прямоугольник 3"/>
              <p:cNvSpPr/>
              <p:nvPr/>
            </p:nvSpPr>
            <p:spPr>
              <a:xfrm>
                <a:off x="5998415" y="2127345"/>
                <a:ext cx="4734215" cy="61388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ru-RU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ru-RU" sz="2400" i="1">
                            <a:latin typeface="Cambria Math" panose="02040503050406030204" pitchFamily="18" charset="0"/>
                          </a:rPr>
                          <m:t>изм</m:t>
                        </m:r>
                      </m:sub>
                    </m:sSub>
                    <m:r>
                      <a:rPr lang="ru-RU" sz="2400" b="0" i="1" smtClean="0">
                        <a:latin typeface="Cambria Math" panose="02040503050406030204" pitchFamily="18" charset="0"/>
                      </a:rPr>
                      <m:t>(выход)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sSub>
                          <m:sSubPr>
                            <m:ctrlPr>
                              <a:rPr lang="ru-RU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ru-RU" sz="2400" b="0" i="1" smtClean="0">
                                <a:latin typeface="Cambria Math" panose="02040503050406030204" pitchFamily="18" charset="0"/>
                              </a:rPr>
                              <m:t>изм</m:t>
                            </m:r>
                          </m:sub>
                        </m:sSub>
                        <m:r>
                          <a:rPr lang="ru-RU" sz="2400" b="0" i="1" smtClean="0">
                            <a:latin typeface="Cambria Math" panose="02040503050406030204" pitchFamily="18" charset="0"/>
                          </a:rPr>
                          <m:t>(вход</m:t>
                        </m:r>
                      </m:e>
                    </m:nary>
                  </m:oMath>
                </a14:m>
                <a:r>
                  <a:rPr lang="ru-RU" sz="2400" dirty="0" smtClean="0"/>
                  <a:t>)</a:t>
                </a:r>
                <a:endParaRPr lang="ru-RU" sz="2400" dirty="0"/>
              </a:p>
            </p:txBody>
          </p:sp>
        </mc:Choice>
        <mc:Fallback>
          <p:sp>
            <p:nvSpPr>
              <p:cNvPr id="4" name="Прямоугольник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8415" y="2127345"/>
                <a:ext cx="4734215" cy="613886"/>
              </a:xfrm>
              <a:prstGeom prst="rect">
                <a:avLst/>
              </a:prstGeom>
              <a:blipFill>
                <a:blip r:embed="rId2"/>
                <a:stretch>
                  <a:fillRect b="-99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Рисунок 4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2820" y="1681018"/>
            <a:ext cx="5395595" cy="1543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Рисунок 5"/>
          <p:cNvPicPr/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2820" y="4137891"/>
            <a:ext cx="5395595" cy="1473634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7" name="Прямоугольник 6"/>
              <p:cNvSpPr/>
              <p:nvPr/>
            </p:nvSpPr>
            <p:spPr>
              <a:xfrm>
                <a:off x="5998415" y="4290344"/>
                <a:ext cx="6101220" cy="81067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400" i="1" smtClean="0">
                          <a:latin typeface="Cambria Math" panose="02040503050406030204" pitchFamily="18" charset="0"/>
                        </a:rPr>
                        <m:t>𝑇</m:t>
                      </m:r>
                      <m:f>
                        <m:fPr>
                          <m:ctrlPr>
                            <a:rPr lang="ru-RU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ru-RU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ru-RU" sz="2400" i="1">
                                  <a:latin typeface="Cambria Math" panose="02040503050406030204" pitchFamily="18" charset="0"/>
                                </a:rPr>
                                <m:t>уст</m:t>
                              </m:r>
                            </m:sub>
                          </m:sSub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(выход)</m:t>
                          </m:r>
                        </m:num>
                        <m:den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𝑑𝑇</m:t>
                          </m:r>
                        </m:den>
                      </m:f>
                      <m:r>
                        <a:rPr lang="ru-RU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ru-RU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уст</m:t>
                          </m:r>
                        </m:sub>
                      </m:sSub>
                      <m:d>
                        <m:dPr>
                          <m:ctrlPr>
                            <a:rPr lang="ru-RU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выход</m:t>
                          </m:r>
                        </m:e>
                      </m:d>
                      <m:r>
                        <a:rPr lang="ru-RU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уст</m:t>
                          </m:r>
                        </m:sub>
                      </m:sSub>
                      <m:d>
                        <m:dPr>
                          <m:ctrlPr>
                            <a:rPr lang="ru-RU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вход</m:t>
                          </m:r>
                        </m:e>
                      </m:d>
                    </m:oMath>
                  </m:oMathPara>
                </a14:m>
                <a:endParaRPr lang="ru-RU" dirty="0"/>
              </a:p>
            </p:txBody>
          </p:sp>
        </mc:Choice>
        <mc:Fallback>
          <p:sp>
            <p:nvSpPr>
              <p:cNvPr id="7" name="Прямоугольник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8415" y="4290344"/>
                <a:ext cx="6101220" cy="81067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/>
          <p:cNvSpPr txBox="1"/>
          <p:nvPr/>
        </p:nvSpPr>
        <p:spPr>
          <a:xfrm>
            <a:off x="4121098" y="3537334"/>
            <a:ext cx="400858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Апериодический фильтр уставки</a:t>
            </a:r>
          </a:p>
          <a:p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143826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636026" y="655399"/>
            <a:ext cx="29507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Модель топливной системы</a:t>
            </a: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880" y="1380284"/>
            <a:ext cx="10333037" cy="4999857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1219200" y="3535680"/>
            <a:ext cx="9865360" cy="269240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7" name="Прямая со стрелкой 6"/>
          <p:cNvCxnSpPr/>
          <p:nvPr/>
        </p:nvCxnSpPr>
        <p:spPr>
          <a:xfrm flipH="1">
            <a:off x="7840136" y="2941320"/>
            <a:ext cx="1154731" cy="59436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Прямая со стрелкой 7"/>
          <p:cNvCxnSpPr/>
          <p:nvPr/>
        </p:nvCxnSpPr>
        <p:spPr>
          <a:xfrm flipH="1" flipV="1">
            <a:off x="2902218" y="2074828"/>
            <a:ext cx="511542" cy="86649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Прямая со стрелкой 10"/>
          <p:cNvCxnSpPr/>
          <p:nvPr/>
        </p:nvCxnSpPr>
        <p:spPr>
          <a:xfrm>
            <a:off x="1310640" y="1083104"/>
            <a:ext cx="677178" cy="59570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/>
          <p:cNvCxnSpPr/>
          <p:nvPr/>
        </p:nvCxnSpPr>
        <p:spPr>
          <a:xfrm>
            <a:off x="3413760" y="2941320"/>
            <a:ext cx="2392045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072834" y="2684502"/>
            <a:ext cx="16605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ПИД-Регулятор</a:t>
            </a:r>
            <a:endParaRPr lang="ru-RU" dirty="0"/>
          </a:p>
        </p:txBody>
      </p:sp>
      <p:sp>
        <p:nvSpPr>
          <p:cNvPr id="19" name="TextBox 18"/>
          <p:cNvSpPr txBox="1"/>
          <p:nvPr/>
        </p:nvSpPr>
        <p:spPr>
          <a:xfrm>
            <a:off x="5808918" y="2757101"/>
            <a:ext cx="18434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Топливная рейка</a:t>
            </a:r>
            <a:endParaRPr lang="ru-RU" dirty="0"/>
          </a:p>
        </p:txBody>
      </p:sp>
      <p:sp>
        <p:nvSpPr>
          <p:cNvPr id="20" name="TextBox 19"/>
          <p:cNvSpPr txBox="1"/>
          <p:nvPr/>
        </p:nvSpPr>
        <p:spPr>
          <a:xfrm>
            <a:off x="485734" y="713772"/>
            <a:ext cx="16498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Блок форсунок</a:t>
            </a:r>
            <a:endParaRPr lang="ru-RU" dirty="0"/>
          </a:p>
        </p:txBody>
      </p:sp>
      <p:cxnSp>
        <p:nvCxnSpPr>
          <p:cNvPr id="24" name="Прямая со стрелкой 23"/>
          <p:cNvCxnSpPr/>
          <p:nvPr/>
        </p:nvCxnSpPr>
        <p:spPr>
          <a:xfrm flipH="1" flipV="1">
            <a:off x="5452536" y="1886912"/>
            <a:ext cx="978744" cy="19981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 стрелкой 25"/>
          <p:cNvCxnSpPr/>
          <p:nvPr/>
        </p:nvCxnSpPr>
        <p:spPr>
          <a:xfrm flipH="1">
            <a:off x="5437300" y="2223948"/>
            <a:ext cx="993980" cy="25144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431280" y="1934835"/>
            <a:ext cx="25635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Ограничители давления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604026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9520" y="2812414"/>
            <a:ext cx="6777355" cy="350710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/>
          <p:cNvSpPr txBox="1"/>
          <p:nvPr/>
        </p:nvSpPr>
        <p:spPr>
          <a:xfrm>
            <a:off x="4688354" y="782320"/>
            <a:ext cx="27136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Модель топливной рейки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Прямоугольник 3"/>
              <p:cNvSpPr/>
              <p:nvPr/>
            </p:nvSpPr>
            <p:spPr>
              <a:xfrm>
                <a:off x="2652123" y="1657970"/>
                <a:ext cx="6786153" cy="64812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ru-RU" i="0">
                          <a:latin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p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𝑦</m:t>
                          </m:r>
                        </m:num>
                        <m:den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ru-RU" i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ru-RU" i="1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ru-RU" i="0">
                          <a:latin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𝑑𝑦</m:t>
                          </m:r>
                        </m:num>
                        <m:den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ru-RU" i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ru-RU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ru-RU" i="0">
                          <a:latin typeface="Cambria Math" panose="02040503050406030204" pitchFamily="18" charset="0"/>
                        </a:rPr>
                        <m:t>∙</m:t>
                      </m:r>
                      <m:r>
                        <a:rPr lang="ru-RU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−апериадичное звено 2−ого порядка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4" name="Прямоугольник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2123" y="1657970"/>
                <a:ext cx="6786153" cy="64812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239120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6719" y="1219200"/>
            <a:ext cx="8788400" cy="398272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/>
          <p:cNvSpPr txBox="1"/>
          <p:nvPr/>
        </p:nvSpPr>
        <p:spPr>
          <a:xfrm>
            <a:off x="4158724" y="447040"/>
            <a:ext cx="3864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Процесс калибровки ПИД-Регулятора</a:t>
            </a:r>
            <a:endParaRPr lang="ru-RU" dirty="0"/>
          </a:p>
        </p:txBody>
      </p:sp>
      <p:sp>
        <p:nvSpPr>
          <p:cNvPr id="4" name="TextBox 3"/>
          <p:cNvSpPr txBox="1"/>
          <p:nvPr/>
        </p:nvSpPr>
        <p:spPr>
          <a:xfrm>
            <a:off x="1696719" y="5604748"/>
            <a:ext cx="92323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По результатам калибровки, для уставки 1500 были подобраны следующие коэффициенты:</a:t>
            </a:r>
          </a:p>
          <a:p>
            <a:r>
              <a:rPr lang="en-US" i="1" dirty="0"/>
              <a:t>P</a:t>
            </a:r>
            <a:r>
              <a:rPr lang="ru-RU" dirty="0"/>
              <a:t>=0.22, </a:t>
            </a:r>
            <a:r>
              <a:rPr lang="en-US" i="1" dirty="0"/>
              <a:t>I</a:t>
            </a:r>
            <a:r>
              <a:rPr lang="ru-RU" dirty="0"/>
              <a:t>=0.</a:t>
            </a:r>
            <a:r>
              <a:rPr lang="en-US" dirty="0"/>
              <a:t>005</a:t>
            </a:r>
            <a:r>
              <a:rPr lang="ru-RU" dirty="0"/>
              <a:t>, </a:t>
            </a:r>
            <a:r>
              <a:rPr lang="en-US" i="1" dirty="0"/>
              <a:t>D</a:t>
            </a:r>
            <a:r>
              <a:rPr lang="ru-RU" dirty="0"/>
              <a:t>=</a:t>
            </a:r>
            <a:r>
              <a:rPr lang="en-US" dirty="0"/>
              <a:t>-0.23</a:t>
            </a:r>
            <a:r>
              <a:rPr lang="ru-RU" dirty="0"/>
              <a:t>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485660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2773" y="170769"/>
            <a:ext cx="2933700" cy="2162175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2773" y="2375261"/>
            <a:ext cx="2981325" cy="2162175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2773" y="4537436"/>
            <a:ext cx="3009900" cy="2162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55771" y="1067190"/>
            <a:ext cx="4146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ПИД регулятор долго выходит на режим</a:t>
            </a:r>
            <a:endParaRPr lang="ru-RU" dirty="0"/>
          </a:p>
        </p:txBody>
      </p:sp>
      <p:sp>
        <p:nvSpPr>
          <p:cNvPr id="6" name="TextBox 5"/>
          <p:cNvSpPr txBox="1"/>
          <p:nvPr/>
        </p:nvSpPr>
        <p:spPr>
          <a:xfrm>
            <a:off x="5355771" y="3271682"/>
            <a:ext cx="21665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Перерегулирование</a:t>
            </a:r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5355771" y="5433857"/>
            <a:ext cx="33263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Приемлемая работа регулятора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010787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2960" y="1147168"/>
            <a:ext cx="7876222" cy="57108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753332" y="416560"/>
            <a:ext cx="45554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Проект алгоритма управления ТС по модели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804420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765" y="346710"/>
            <a:ext cx="4857750" cy="3009900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765" y="3569970"/>
            <a:ext cx="4857750" cy="30099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45200" y="1482328"/>
            <a:ext cx="54614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Характеристика впрыскивания при давлении 100мПа</a:t>
            </a:r>
            <a:endParaRPr lang="ru-RU" dirty="0"/>
          </a:p>
        </p:txBody>
      </p:sp>
      <p:sp>
        <p:nvSpPr>
          <p:cNvPr id="5" name="TextBox 4"/>
          <p:cNvSpPr txBox="1"/>
          <p:nvPr/>
        </p:nvSpPr>
        <p:spPr>
          <a:xfrm>
            <a:off x="6045200" y="4890254"/>
            <a:ext cx="54614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Характеристика впрыскивания при давлении 150мПа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21922684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146</Words>
  <Application>Microsoft Office PowerPoint</Application>
  <PresentationFormat>Широкоэкранный</PresentationFormat>
  <Paragraphs>48</Paragraphs>
  <Slides>11</Slides>
  <Notes>0</Notes>
  <HiddenSlides>0</HiddenSlides>
  <MMClips>0</MMClips>
  <ScaleCrop>false</ScaleCrop>
  <HeadingPairs>
    <vt:vector size="8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Внедренные серверы OLE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8" baseType="lpstr">
      <vt:lpstr>Arial</vt:lpstr>
      <vt:lpstr>Calibri</vt:lpstr>
      <vt:lpstr>Calibri Light</vt:lpstr>
      <vt:lpstr>Cambria Math</vt:lpstr>
      <vt:lpstr>Times New Roman</vt:lpstr>
      <vt:lpstr>Тема Office</vt:lpstr>
      <vt:lpstr>Equation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Пользователь</dc:creator>
  <cp:lastModifiedBy>Пользователь</cp:lastModifiedBy>
  <cp:revision>5</cp:revision>
  <dcterms:created xsi:type="dcterms:W3CDTF">2022-03-27T15:37:07Z</dcterms:created>
  <dcterms:modified xsi:type="dcterms:W3CDTF">2022-03-27T16:33:05Z</dcterms:modified>
</cp:coreProperties>
</file>