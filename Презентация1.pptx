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68" r:id="rId10"/>
    <p:sldId id="270" r:id="rId11"/>
    <p:sldId id="269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15.02.2022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3091543" y="1492738"/>
            <a:ext cx="4955179" cy="4167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539931" y="3065418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53993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9807" y="96048"/>
            <a:ext cx="7990879" cy="3429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23932" y="3802466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4228316" y="3525468"/>
            <a:ext cx="323386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/>
              <a:t>SiL</a:t>
            </a:r>
            <a:r>
              <a:rPr lang="ru-RU" dirty="0"/>
              <a:t>) начинается с создания кода на основе модели контроллера. Затем этот код 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7597922" y="3718679"/>
            <a:ext cx="276863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 Как только сгенерированный код будет проверен на работоспособность, следующим шагом будет аппаратное обеспечение в цикле (</a:t>
            </a:r>
            <a:r>
              <a:rPr lang="ru-RU" dirty="0" err="1"/>
              <a:t>HiL</a:t>
            </a:r>
            <a:r>
              <a:rPr lang="ru-RU" dirty="0"/>
              <a:t>) тестирование. Код теперь реализован в окончательной настройке </a:t>
            </a:r>
            <a:r>
              <a:rPr lang="ru-RU" dirty="0" smtClean="0"/>
              <a:t>оборудования.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2" y="118006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0675" y="1071154"/>
            <a:ext cx="427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6690787" y="948682"/>
            <a:ext cx="4009356" cy="3038493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284223" y="440174"/>
            <a:ext cx="47875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</a:rPr>
              <a:t>Управление с прогнозирующими моделями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</a:rPr>
              <a:t> 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968632" y="898267"/>
            <a:ext cx="544958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Один </a:t>
            </a:r>
            <a:r>
              <a:rPr lang="ru-RU" dirty="0"/>
              <a:t>из современных методов </a:t>
            </a:r>
            <a:r>
              <a:rPr lang="ru-RU" dirty="0" smtClean="0"/>
              <a:t>теории управления. </a:t>
            </a:r>
            <a:r>
              <a:rPr lang="ru-RU" dirty="0"/>
              <a:t>Широко стал применяться с начала 80-х годов </a:t>
            </a:r>
            <a:r>
              <a:rPr lang="ru-RU" dirty="0" smtClean="0"/>
              <a:t>ХХ</a:t>
            </a:r>
            <a:r>
              <a:rPr lang="ru-RU" dirty="0"/>
              <a:t> века. Является улучшением классического управления с </a:t>
            </a:r>
            <a:r>
              <a:rPr lang="ru-RU" dirty="0" smtClean="0"/>
              <a:t>отрицательной обратной связью, </a:t>
            </a:r>
            <a:r>
              <a:rPr lang="ru-RU" dirty="0"/>
              <a:t>в котором учитывается предсказание поведения </a:t>
            </a:r>
            <a:r>
              <a:rPr lang="ru-RU" dirty="0" smtClean="0"/>
              <a:t>объекта управления</a:t>
            </a:r>
            <a:r>
              <a:rPr lang="ru-RU" dirty="0"/>
              <a:t> на различные типы входных воздействий. Обратная связь в таких системах управления используется для корректировки неточностей, связанных с внешними помехами и неточностью математической модели объекта управления. 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12203" b="14101"/>
          <a:stretch/>
        </p:blipFill>
        <p:spPr>
          <a:xfrm>
            <a:off x="6418217" y="4126349"/>
            <a:ext cx="5050972" cy="24224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8632" y="4502331"/>
            <a:ext cx="4909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ПИД регулятор – один из самых распространенных автоматических регуляторов.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2569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95537" y="1106905"/>
            <a:ext cx="355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Сравнение </a:t>
            </a:r>
            <a:r>
              <a:rPr lang="en-US" dirty="0" smtClean="0"/>
              <a:t>MPC </a:t>
            </a:r>
            <a:r>
              <a:rPr lang="ru-RU" dirty="0" smtClean="0"/>
              <a:t>и ПИД регулятора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673767" y="2245895"/>
            <a:ext cx="47003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создавать модель объекта управления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Возможность наложить на величину управляющего воздействия и максимальные отклонения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При наличии двух целей регулирования их взаимодействие определяется весовыми параметрами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6320590" y="2245895"/>
            <a:ext cx="5871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подбора коэффициентов регулятора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На каждую цель свой регулятор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0641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580306" y="592184"/>
            <a:ext cx="5289272" cy="3309257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58872" y="4140289"/>
            <a:ext cx="10842171" cy="2383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Алгоритм управления с прогнозирующей моделью можно представить в следующем виде: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1. Измерить текущее состояние </a:t>
            </a:r>
            <a:r>
              <a:rPr lang="ru-RU" dirty="0">
                <a:latin typeface="Cambria Math" panose="02040503050406030204" pitchFamily="18" charset="0"/>
                <a:ea typeface="Calibri" panose="020F0502020204030204" pitchFamily="34" charset="0"/>
                <a:cs typeface="Cambria Math" panose="02040503050406030204" pitchFamily="18" charset="0"/>
              </a:rPr>
              <a:t>𝑥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̃[k], где k – текущий такт времени.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2. Найти последовательность оптимальных управляющих величин u[i] для горизонта управления </a:t>
            </a:r>
            <a:r>
              <a:rPr lang="ru-RU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Nc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ru-RU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k+C</a:t>
            </a:r>
            <a:r>
              <a:rPr lang="ru-RU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 ≤ </a:t>
            </a:r>
            <a:r>
              <a:rPr lang="ru-RU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Nc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на всем горизонте прогнозирования </a:t>
            </a:r>
            <a:r>
              <a:rPr lang="ru-RU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Np</a:t>
            </a:r>
            <a:r>
              <a:rPr lang="ru-RU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ru-RU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k+P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минимизирующую целевую функцию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 Применить для управления только первую управляющую величину u[1], остальные отбросить. </a:t>
            </a:r>
            <a:endParaRPr lang="ru-RU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/>
              <a:t>4. Перейти на шаг 1 и повторить процедуру в момент времени k+1.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823" y="539213"/>
            <a:ext cx="5391473" cy="317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3788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1973</TotalTime>
  <Words>322</Words>
  <Application>Microsoft Office PowerPoint</Application>
  <PresentationFormat>Широкоэкранный</PresentationFormat>
  <Paragraphs>49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13</cp:revision>
  <dcterms:created xsi:type="dcterms:W3CDTF">2022-02-05T13:01:35Z</dcterms:created>
  <dcterms:modified xsi:type="dcterms:W3CDTF">2022-02-15T18:40:40Z</dcterms:modified>
</cp:coreProperties>
</file>