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2" r:id="rId4"/>
    <p:sldId id="258" r:id="rId5"/>
    <p:sldId id="263" r:id="rId6"/>
    <p:sldId id="264" r:id="rId7"/>
    <p:sldId id="259" r:id="rId8"/>
    <p:sldId id="260" r:id="rId9"/>
    <p:sldId id="274" r:id="rId10"/>
    <p:sldId id="275" r:id="rId11"/>
    <p:sldId id="272" r:id="rId12"/>
    <p:sldId id="27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88" d="100"/>
          <a:sy n="88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67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4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2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8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77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48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53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89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1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77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F0F75-C579-4C28-9547-144EAD9AD0C4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9ADA0-596D-410B-9C3F-A60CBD1F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94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tretch>
            <a:fillRect/>
          </a:stretch>
        </p:blipFill>
        <p:spPr>
          <a:xfrm>
            <a:off x="2710866" y="1122623"/>
            <a:ext cx="5721531" cy="4519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0866" y="627017"/>
            <a:ext cx="591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Этапы проектирования встраиваемой системы (</a:t>
            </a:r>
            <a:r>
              <a:rPr lang="en-US" dirty="0" smtClean="0"/>
              <a:t>V-</a:t>
            </a:r>
            <a:r>
              <a:rPr lang="ru-RU" dirty="0" smtClean="0"/>
              <a:t>модель)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87382" y="2849880"/>
            <a:ext cx="2945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Проверка логики алгоритма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00891" y="4894217"/>
            <a:ext cx="350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Проверка сгенерированного кода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7628453" y="4063220"/>
            <a:ext cx="3640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Встраиваемая система </a:t>
            </a:r>
          </a:p>
          <a:p>
            <a:r>
              <a:rPr lang="ru-RU" dirty="0" smtClean="0"/>
              <a:t>взаимодействует с </a:t>
            </a:r>
          </a:p>
          <a:p>
            <a:r>
              <a:rPr lang="ru-RU" dirty="0" smtClean="0"/>
              <a:t>математической моделью</a:t>
            </a:r>
          </a:p>
          <a:p>
            <a:r>
              <a:rPr lang="ru-RU" dirty="0" smtClean="0"/>
              <a:t> объекта управления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361509" y="1428206"/>
            <a:ext cx="1157151" cy="4273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требования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01292" y="2381404"/>
            <a:ext cx="1162594" cy="4684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Проектирова-ние модели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109800" y="3560096"/>
            <a:ext cx="1140823" cy="4191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Разработка ПО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079145" y="3560096"/>
            <a:ext cx="1163665" cy="4191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Модуль тестирования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423660" y="2381404"/>
            <a:ext cx="1152525" cy="4399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Интегрированные тестирования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663690" y="1428206"/>
            <a:ext cx="1162050" cy="4273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1"/>
                </a:solidFill>
              </a:rPr>
              <a:t>Валидация</a:t>
            </a: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5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pubs.sciepub.com/automation/5/2/7/bigimage/fig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32" y="-1010076"/>
            <a:ext cx="8360227" cy="35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67475" y="3807995"/>
            <a:ext cx="30447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Тестирование модели в цикле (</a:t>
            </a:r>
            <a:r>
              <a:rPr lang="ru-RU" dirty="0" err="1"/>
              <a:t>MiL</a:t>
            </a:r>
            <a:r>
              <a:rPr lang="ru-RU" dirty="0"/>
              <a:t>) проводится на ранних стадиях разработки. На этом этапе фиксируется динамика виртуальной модели и создается контроллер на основе входных данных виртуальной модели.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8316" y="3802466"/>
            <a:ext cx="32338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Тестирование программного обеспечения в цикле (</a:t>
            </a:r>
            <a:r>
              <a:rPr lang="ru-RU" dirty="0" err="1" smtClean="0"/>
              <a:t>SiL</a:t>
            </a:r>
            <a:r>
              <a:rPr lang="ru-RU" dirty="0" smtClean="0"/>
              <a:t>). Код </a:t>
            </a:r>
            <a:r>
              <a:rPr lang="ru-RU" dirty="0"/>
              <a:t>тестируется в виртуальной среде, без каких-либо аппаратных средств, чтобы проверить, насколько хорошо программное обеспечение справляется с моделируемой системой.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29" y="3802465"/>
            <a:ext cx="33092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Тестирование </a:t>
            </a:r>
            <a:r>
              <a:rPr lang="ru-RU" dirty="0" smtClean="0"/>
              <a:t>(HIL) </a:t>
            </a:r>
            <a:r>
              <a:rPr lang="ru-RU" dirty="0"/>
              <a:t>- это метод, при котором реальные сигналы от контроллера подключаются к тестовой системе, которая имитирует реальность, обманывая контроллер, заставляя его думать, что он находится в собранном продукте.</a:t>
            </a:r>
          </a:p>
        </p:txBody>
      </p:sp>
    </p:spTree>
    <p:extLst>
      <p:ext uri="{BB962C8B-B14F-4D97-AF65-F5344CB8AC3E}">
        <p14:creationId xmlns:p14="http://schemas.microsoft.com/office/powerpoint/2010/main" val="117127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205104"/>
              </p:ext>
            </p:extLst>
          </p:nvPr>
        </p:nvGraphicFramePr>
        <p:xfrm>
          <a:off x="539749" y="1588144"/>
          <a:ext cx="539432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3" imgW="2806560" imgH="825480" progId="Equation.DSMT4">
                  <p:embed/>
                </p:oleObj>
              </mc:Choice>
              <mc:Fallback>
                <p:oleObj name="Equation" r:id="rId3" imgW="2806560" imgH="825480" progId="Equation.DSMT4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49" y="1588144"/>
                        <a:ext cx="5394325" cy="1684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3932" y="118006"/>
            <a:ext cx="1158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– основные уравнения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3</a:t>
            </a:r>
            <a:endParaRPr lang="ru-RU" altLang="en-US" sz="135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86327" y="3732618"/>
                <a:ext cx="6406879" cy="810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уст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(выход)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выход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вход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27" y="3732618"/>
                <a:ext cx="6406879" cy="810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539749" y="4893032"/>
                <a:ext cx="4734215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изм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(выход)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изм</m:t>
                            </m:r>
                          </m:sub>
                        </m:s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(вход</m:t>
                        </m:r>
                      </m:e>
                    </m:nary>
                  </m:oMath>
                </a14:m>
                <a:r>
                  <a:rPr lang="ru-RU" sz="2400" dirty="0" smtClean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9" y="4893032"/>
                <a:ext cx="4734215" cy="613886"/>
              </a:xfrm>
              <a:prstGeom prst="rect">
                <a:avLst/>
              </a:prstGeom>
              <a:blipFill>
                <a:blip r:embed="rId6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06856" y="2872372"/>
            <a:ext cx="288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r>
              <a:rPr lang="ru-RU" sz="2000" dirty="0" smtClean="0"/>
              <a:t>ошибка регулирования 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500571" y="3967805"/>
            <a:ext cx="4523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sz="2000" dirty="0" smtClean="0"/>
              <a:t>апериодический фильтр уставки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273964" y="4999920"/>
            <a:ext cx="3568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sz="2000" dirty="0" smtClean="0"/>
              <a:t>фильтр </a:t>
            </a:r>
            <a:r>
              <a:rPr lang="ru-RU" sz="2000" dirty="0"/>
              <a:t>скользящего среднего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8197" y="1990424"/>
            <a:ext cx="242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2629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13" y="1027611"/>
            <a:ext cx="7743899" cy="45349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329882" y="1345474"/>
            <a:ext cx="3618072" cy="1066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072979" y="2412274"/>
            <a:ext cx="3618072" cy="8784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875653" y="3290751"/>
            <a:ext cx="1815398" cy="15201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92966" y="676883"/>
            <a:ext cx="196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Уставка давления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575288" y="3926365"/>
            <a:ext cx="154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Входящее давление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121059" y="5382398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Коэффициенты для ПИД регулятора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955280" y="908259"/>
            <a:ext cx="1323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Выходной сигнал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493725" y="4733865"/>
            <a:ext cx="164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 регулятор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1797783" y="1009356"/>
            <a:ext cx="550391" cy="444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1797783" y="3309007"/>
            <a:ext cx="403648" cy="615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3537489" y="4795530"/>
            <a:ext cx="403648" cy="615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 flipV="1">
            <a:off x="7759338" y="4388944"/>
            <a:ext cx="391885" cy="406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8318438" y="1567543"/>
            <a:ext cx="85333" cy="5747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74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1" y="1734861"/>
            <a:ext cx="9730876" cy="487725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622766" y="1734861"/>
            <a:ext cx="3291840" cy="1295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682240" y="3030583"/>
            <a:ext cx="4232366" cy="1295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682240" y="4326305"/>
            <a:ext cx="4232366" cy="17000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6914607" y="1663337"/>
            <a:ext cx="1062444" cy="1586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6914607" y="4129718"/>
            <a:ext cx="1471747" cy="755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6927671" y="6026331"/>
            <a:ext cx="1815735" cy="130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25097" y="1365529"/>
            <a:ext cx="26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Пропорциональная часть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386354" y="4763589"/>
            <a:ext cx="2109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Интегральная часть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743406" y="60916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Дифференциальная часть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9659756" y="3030583"/>
            <a:ext cx="444760" cy="5961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104516" y="2634216"/>
            <a:ext cx="1686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Выходной сигнал с регулятора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2830286" y="1428206"/>
            <a:ext cx="191589" cy="1327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3806" y="1067911"/>
            <a:ext cx="249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Ошибка регулирования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4323593" y="533002"/>
            <a:ext cx="302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Архитектура ПИД регулятора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00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59" y="1541417"/>
            <a:ext cx="8342812" cy="4846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0" y="278674"/>
            <a:ext cx="288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ESDL-</a:t>
            </a:r>
            <a:r>
              <a:rPr lang="ru-RU" dirty="0" smtClean="0"/>
              <a:t>файл ПИД регулятора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419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8" y="2273501"/>
            <a:ext cx="11397343" cy="2330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87632" y="513805"/>
            <a:ext cx="327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Фильтр скользящего среднего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870675" y="1659615"/>
                <a:ext cx="4734215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изм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(выход)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изм</m:t>
                            </m:r>
                          </m:sub>
                        </m:s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(вход</m:t>
                        </m:r>
                      </m:e>
                    </m:nary>
                  </m:oMath>
                </a14:m>
                <a:r>
                  <a:rPr lang="ru-RU" sz="2400" dirty="0" smtClean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75" y="1659615"/>
                <a:ext cx="4734215" cy="613886"/>
              </a:xfrm>
              <a:prstGeom prst="rect">
                <a:avLst/>
              </a:prstGeom>
              <a:blipFill>
                <a:blip r:embed="rId3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27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2511198"/>
            <a:ext cx="8534400" cy="3838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2063" y="713873"/>
            <a:ext cx="3504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</a:t>
            </a:r>
            <a:r>
              <a:rPr lang="ru-RU" dirty="0" smtClean="0"/>
              <a:t>периодический </a:t>
            </a:r>
            <a:r>
              <a:rPr lang="ru-RU" dirty="0"/>
              <a:t>фильтр </a:t>
            </a:r>
            <a:r>
              <a:rPr lang="ru-RU" dirty="0" smtClean="0"/>
              <a:t>уставки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663337" y="18462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436914" y="1473645"/>
                <a:ext cx="6406879" cy="810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уст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(выход)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выход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вход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914" y="1473645"/>
                <a:ext cx="6406879" cy="810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29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5" y="278674"/>
            <a:ext cx="11643750" cy="633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3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73" y="170769"/>
            <a:ext cx="2933700" cy="21621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73" y="2375261"/>
            <a:ext cx="2981325" cy="21621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773" y="4537436"/>
            <a:ext cx="30099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5771" y="1067190"/>
            <a:ext cx="414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 регулятор долго выходит на режим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355771" y="3271682"/>
            <a:ext cx="2166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Перерегулирование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355771" y="5433857"/>
            <a:ext cx="332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Приемлемая работа регулятора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84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328115" y="1256414"/>
            <a:ext cx="3466012" cy="408432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12" y="1426411"/>
            <a:ext cx="2719052" cy="1597290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4615497" y="3570710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ПИД-регулятор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/>
          <p:cNvCxnSpPr>
            <a:stCxn id="9" idx="3"/>
          </p:cNvCxnSpPr>
          <p:nvPr/>
        </p:nvCxnSpPr>
        <p:spPr>
          <a:xfrm>
            <a:off x="7323864" y="2225056"/>
            <a:ext cx="1045029" cy="15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309812" y="4321638"/>
            <a:ext cx="10590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8368893" y="2240110"/>
            <a:ext cx="0" cy="208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8368893" y="3174396"/>
            <a:ext cx="421944" cy="6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8790837" y="2444561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 управления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ТС аккумуляторного типа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единительная линия 20"/>
          <p:cNvCxnSpPr>
            <a:stCxn id="18" idx="3"/>
          </p:cNvCxnSpPr>
          <p:nvPr/>
        </p:nvCxnSpPr>
        <p:spPr>
          <a:xfrm flipV="1">
            <a:off x="11499204" y="3180435"/>
            <a:ext cx="35402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11840887" y="3180436"/>
            <a:ext cx="0" cy="28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3817338" y="6052457"/>
            <a:ext cx="80358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endCxn id="32" idx="2"/>
          </p:cNvCxnSpPr>
          <p:nvPr/>
        </p:nvCxnSpPr>
        <p:spPr>
          <a:xfrm flipH="1" flipV="1">
            <a:off x="3794904" y="4482943"/>
            <a:ext cx="22434" cy="1569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3599623" y="4126281"/>
            <a:ext cx="400595" cy="37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676675" y="4113611"/>
            <a:ext cx="23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cxnSp>
        <p:nvCxnSpPr>
          <p:cNvPr id="35" name="Прямая соединительная линия 34"/>
          <p:cNvCxnSpPr>
            <a:stCxn id="28" idx="6"/>
            <a:endCxn id="10" idx="1"/>
          </p:cNvCxnSpPr>
          <p:nvPr/>
        </p:nvCxnSpPr>
        <p:spPr>
          <a:xfrm flipV="1">
            <a:off x="4000218" y="4306585"/>
            <a:ext cx="615279" cy="7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28" idx="2"/>
          </p:cNvCxnSpPr>
          <p:nvPr/>
        </p:nvCxnSpPr>
        <p:spPr>
          <a:xfrm flipH="1" flipV="1">
            <a:off x="3395650" y="4314510"/>
            <a:ext cx="2039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Скругленный прямоугольник 47"/>
          <p:cNvSpPr/>
          <p:nvPr/>
        </p:nvSpPr>
        <p:spPr>
          <a:xfrm>
            <a:off x="333099" y="2444561"/>
            <a:ext cx="2698906" cy="14792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Уставка </a:t>
            </a:r>
            <a:r>
              <a:rPr lang="ru-RU" dirty="0"/>
              <a:t>д</a:t>
            </a:r>
            <a:r>
              <a:rPr lang="ru-RU" dirty="0" smtClean="0"/>
              <a:t>авления</a:t>
            </a:r>
            <a:endParaRPr lang="ru-RU" dirty="0"/>
          </a:p>
        </p:txBody>
      </p:sp>
      <p:cxnSp>
        <p:nvCxnSpPr>
          <p:cNvPr id="50" name="Прямая соединительная линия 49"/>
          <p:cNvCxnSpPr>
            <a:stCxn id="48" idx="3"/>
          </p:cNvCxnSpPr>
          <p:nvPr/>
        </p:nvCxnSpPr>
        <p:spPr>
          <a:xfrm>
            <a:off x="3032005" y="3184179"/>
            <a:ext cx="341683" cy="6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>
            <a:off x="3379068" y="3200232"/>
            <a:ext cx="0" cy="1121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9" idx="1"/>
          </p:cNvCxnSpPr>
          <p:nvPr/>
        </p:nvCxnSpPr>
        <p:spPr>
          <a:xfrm flipH="1">
            <a:off x="3362487" y="2225056"/>
            <a:ext cx="1242325" cy="15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 flipV="1">
            <a:off x="3379068" y="2240110"/>
            <a:ext cx="0" cy="960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484622" y="380391"/>
            <a:ext cx="309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Комбинированный регулятор</a:t>
            </a:r>
          </a:p>
          <a:p>
            <a:r>
              <a:rPr lang="ru-RU" dirty="0" smtClean="0"/>
              <a:t> управления давлением в ТС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8436813" y="549536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r>
              <a:rPr lang="ru-RU" sz="1000" dirty="0" err="1" smtClean="0"/>
              <a:t>ак</a:t>
            </a:r>
            <a:endParaRPr lang="ru-RU" sz="1000" dirty="0"/>
          </a:p>
        </p:txBody>
      </p:sp>
      <p:cxnSp>
        <p:nvCxnSpPr>
          <p:cNvPr id="62" name="Прямая со стрелкой 61"/>
          <p:cNvCxnSpPr/>
          <p:nvPr/>
        </p:nvCxnSpPr>
        <p:spPr>
          <a:xfrm flipH="1">
            <a:off x="8436813" y="1326776"/>
            <a:ext cx="492034" cy="148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368893" y="764190"/>
            <a:ext cx="3552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ШИМ сигнал управления </a:t>
            </a:r>
          </a:p>
          <a:p>
            <a:r>
              <a:rPr lang="ru-RU" dirty="0" smtClean="0"/>
              <a:t>дросселирующим клапаном ТНВД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20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74" y="495570"/>
            <a:ext cx="8468036" cy="592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9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</TotalTime>
  <Words>222</Words>
  <Application>Microsoft Office PowerPoint</Application>
  <PresentationFormat>Широкоэкранный</PresentationFormat>
  <Paragraphs>53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29</cp:revision>
  <dcterms:created xsi:type="dcterms:W3CDTF">2022-02-05T13:01:35Z</dcterms:created>
  <dcterms:modified xsi:type="dcterms:W3CDTF">2022-02-28T17:46:44Z</dcterms:modified>
</cp:coreProperties>
</file>