
<file path=[Content_Types].xml><?xml version="1.0" encoding="utf-8"?>
<Types xmlns="http://schemas.openxmlformats.org/package/2006/content-types">
  <Default Extension="bin" ContentType="application/vnd.openxmlformats-officedocument.oleObject"/>
  <Default Extension="png" ContentType="image/png"/>
  <Default Extension="wmf" ContentType="image/x-wmf"/>
  <Default Extension="jpeg" ContentType="image/jpeg"/>
  <Default Extension="rels" ContentType="application/vnd.openxmlformats-package.relationships+xml"/>
  <Default Extension="xml" ContentType="application/xml"/>
  <Default Extension="vml" ContentType="application/vnd.openxmlformats-officedocument.vmlDrawing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62" r:id="rId2"/>
    <p:sldId id="258" r:id="rId3"/>
    <p:sldId id="263" r:id="rId4"/>
    <p:sldId id="264" r:id="rId5"/>
    <p:sldId id="259" r:id="rId6"/>
    <p:sldId id="260" r:id="rId7"/>
  </p:sldIdLst>
  <p:sldSz cx="12192000" cy="6858000"/>
  <p:notesSz cx="6858000" cy="9144000"/>
  <p:defaultTextStyle>
    <a:defPPr>
      <a:defRPr lang="ru-R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4995" autoAdjust="0"/>
    <p:restoredTop sz="94660"/>
  </p:normalViewPr>
  <p:slideViewPr>
    <p:cSldViewPr snapToGrid="0">
      <p:cViewPr varScale="1">
        <p:scale>
          <a:sx n="88" d="100"/>
          <a:sy n="88" d="100"/>
        </p:scale>
        <p:origin x="494" y="6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ableStyles" Target="tableStyles.xml"/><Relationship Id="rId5" Type="http://schemas.openxmlformats.org/officeDocument/2006/relationships/slide" Target="slides/slide4.xml"/><Relationship Id="rId10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viewProps" Target="viewProps.xml"/></Relationships>
</file>

<file path=ppt/drawings/_rels/vmlDrawing1.vml.rels><?xml version="1.0" encoding="UTF-8" standalone="yes"?>
<Relationships xmlns="http://schemas.openxmlformats.org/package/2006/relationships"><Relationship Id="rId1" Type="http://schemas.openxmlformats.org/officeDocument/2006/relationships/image" Target="../media/image1.wmf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Подзаголовок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ru-RU" smtClean="0"/>
              <a:t>Образец подзаголовка</a:t>
            </a:r>
            <a:endParaRPr lang="ru-RU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7DF0F75-C579-4C28-9547-144EAD9AD0C4}" type="datetimeFigureOut">
              <a:rPr lang="ru-RU" smtClean="0"/>
              <a:t>05.02.2022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59ADA0-596D-410B-9C3F-A60CBD1FE4F9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52867261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7DF0F75-C579-4C28-9547-144EAD9AD0C4}" type="datetimeFigureOut">
              <a:rPr lang="ru-RU" smtClean="0"/>
              <a:t>05.02.2022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59ADA0-596D-410B-9C3F-A60CBD1FE4F9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54184076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Заголовок раздел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7DF0F75-C579-4C28-9547-144EAD9AD0C4}" type="datetimeFigureOut">
              <a:rPr lang="ru-RU" smtClean="0"/>
              <a:t>05.02.2022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59ADA0-596D-410B-9C3F-A60CBD1FE4F9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6592849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Объект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4" name="Объект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7DF0F75-C579-4C28-9547-144EAD9AD0C4}" type="datetimeFigureOut">
              <a:rPr lang="ru-RU" smtClean="0"/>
              <a:t>05.02.2022</a:t>
            </a:fld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59ADA0-596D-410B-9C3F-A60CBD1FE4F9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21832801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4" name="Объект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5" name="Текст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6" name="Объект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7" name="Дата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7DF0F75-C579-4C28-9547-144EAD9AD0C4}" type="datetimeFigureOut">
              <a:rPr lang="ru-RU" smtClean="0"/>
              <a:t>05.02.2022</a:t>
            </a:fld>
            <a:endParaRPr lang="ru-RU"/>
          </a:p>
        </p:txBody>
      </p:sp>
      <p:sp>
        <p:nvSpPr>
          <p:cNvPr id="8" name="Нижний колонтитул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9" name="Номер слайда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59ADA0-596D-410B-9C3F-A60CBD1FE4F9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12083062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Только заголово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Дата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7DF0F75-C579-4C28-9547-144EAD9AD0C4}" type="datetimeFigureOut">
              <a:rPr lang="ru-RU" smtClean="0"/>
              <a:t>05.02.2022</a:t>
            </a:fld>
            <a:endParaRPr lang="ru-RU"/>
          </a:p>
        </p:txBody>
      </p:sp>
      <p:sp>
        <p:nvSpPr>
          <p:cNvPr id="4" name="Нижний колонтитул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Номер слайда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59ADA0-596D-410B-9C3F-A60CBD1FE4F9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72277683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Дата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7DF0F75-C579-4C28-9547-144EAD9AD0C4}" type="datetimeFigureOut">
              <a:rPr lang="ru-RU" smtClean="0"/>
              <a:t>05.02.2022</a:t>
            </a:fld>
            <a:endParaRPr lang="ru-RU"/>
          </a:p>
        </p:txBody>
      </p:sp>
      <p:sp>
        <p:nvSpPr>
          <p:cNvPr id="3" name="Нижний колонтитул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59ADA0-596D-410B-9C3F-A60CBD1FE4F9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73548328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4" name="Текст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7DF0F75-C579-4C28-9547-144EAD9AD0C4}" type="datetimeFigureOut">
              <a:rPr lang="ru-RU" smtClean="0"/>
              <a:t>05.02.2022</a:t>
            </a:fld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59ADA0-596D-410B-9C3F-A60CBD1FE4F9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50353612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Рисунок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ru-RU"/>
          </a:p>
        </p:txBody>
      </p:sp>
      <p:sp>
        <p:nvSpPr>
          <p:cNvPr id="4" name="Текст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7DF0F75-C579-4C28-9547-144EAD9AD0C4}" type="datetimeFigureOut">
              <a:rPr lang="ru-RU" smtClean="0"/>
              <a:t>05.02.2022</a:t>
            </a:fld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59ADA0-596D-410B-9C3F-A60CBD1FE4F9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44189907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Заголовок и вертикальный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Вертикальный текст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7DF0F75-C579-4C28-9547-144EAD9AD0C4}" type="datetimeFigureOut">
              <a:rPr lang="ru-RU" smtClean="0"/>
              <a:t>05.02.2022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59ADA0-596D-410B-9C3F-A60CBD1FE4F9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56071636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Вертикальный заголовок и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тикальный заголовок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Вертикальный текст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7DF0F75-C579-4C28-9547-144EAD9AD0C4}" type="datetimeFigureOut">
              <a:rPr lang="ru-RU" smtClean="0"/>
              <a:t>05.02.2022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59ADA0-596D-410B-9C3F-A60CBD1FE4F9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5277021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4" name="Дата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7DF0F75-C579-4C28-9547-144EAD9AD0C4}" type="datetimeFigureOut">
              <a:rPr lang="ru-RU" smtClean="0"/>
              <a:t>05.02.2022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959ADA0-596D-410B-9C3F-A60CBD1FE4F9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63894401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1.bin"/><Relationship Id="rId2" Type="http://schemas.openxmlformats.org/officeDocument/2006/relationships/slideLayout" Target="../slideLayouts/slideLayout2.xml"/><Relationship Id="rId1" Type="http://schemas.openxmlformats.org/officeDocument/2006/relationships/vmlDrawing" Target="../drawings/vmlDrawing1.vml"/><Relationship Id="rId6" Type="http://schemas.openxmlformats.org/officeDocument/2006/relationships/image" Target="../media/image6.png"/><Relationship Id="rId5" Type="http://schemas.openxmlformats.org/officeDocument/2006/relationships/image" Target="../media/image5.png"/><Relationship Id="rId4" Type="http://schemas.openxmlformats.org/officeDocument/2006/relationships/image" Target="../media/image1.wmf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5" name="Объект 4"/>
          <p:cNvGraphicFramePr>
            <a:graphicFrameLocks noChangeAspect="1"/>
          </p:cNvGraphicFramePr>
          <p:nvPr>
            <p:extLst/>
          </p:nvPr>
        </p:nvGraphicFramePr>
        <p:xfrm>
          <a:off x="604404" y="1673567"/>
          <a:ext cx="5394325" cy="168433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028" name="Equation" r:id="rId3" imgW="2806560" imgH="825480" progId="Equation.DSMT4">
                  <p:embed/>
                </p:oleObj>
              </mc:Choice>
              <mc:Fallback>
                <p:oleObj name="Equation" r:id="rId3" imgW="2806560" imgH="825480" progId="Equation.DSMT4">
                  <p:embed/>
                  <p:pic>
                    <p:nvPicPr>
                      <p:cNvPr id="5" name="Объект 4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4"/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604404" y="1673567"/>
                        <a:ext cx="5394325" cy="1684338"/>
                      </a:xfrm>
                      <a:prstGeom prst="rect">
                        <a:avLst/>
                      </a:prstGeom>
                      <a:noFill/>
                    </p:spPr>
                  </p:pic>
                </p:oleObj>
              </mc:Fallback>
            </mc:AlternateContent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143933" y="109344"/>
            <a:ext cx="1158028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sz="2800" b="1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Разработка алгоритма – основные уравнения</a:t>
            </a:r>
            <a:endParaRPr lang="ru-RU" sz="28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" name="Rectangle 4"/>
          <p:cNvSpPr>
            <a:spLocks noChangeArrowheads="1"/>
          </p:cNvSpPr>
          <p:nvPr/>
        </p:nvSpPr>
        <p:spPr bwMode="auto">
          <a:xfrm>
            <a:off x="11718500" y="109344"/>
            <a:ext cx="323850" cy="270272"/>
          </a:xfrm>
          <a:prstGeom prst="rect">
            <a:avLst/>
          </a:prstGeom>
          <a:noFill/>
          <a:ln w="9525">
            <a:solidFill>
              <a:schemeClr val="tx1"/>
            </a:solidFill>
            <a:miter lim="800000"/>
            <a:headEnd/>
            <a:tailEnd/>
          </a:ln>
          <a:effectLst/>
        </p:spPr>
        <p:txBody>
          <a:bodyPr wrap="none" anchor="ctr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r>
              <a:rPr lang="ru-RU" altLang="en-US" sz="1350" dirty="0" smtClean="0"/>
              <a:t>3</a:t>
            </a:r>
            <a:endParaRPr lang="ru-RU" altLang="en-US" sz="1350" dirty="0"/>
          </a:p>
        </p:txBody>
      </p:sp>
      <p:sp>
        <p:nvSpPr>
          <p:cNvPr id="8" name="Прямоугольник 7"/>
          <p:cNvSpPr/>
          <p:nvPr/>
        </p:nvSpPr>
        <p:spPr>
          <a:xfrm>
            <a:off x="143934" y="115889"/>
            <a:ext cx="11904133" cy="6626225"/>
          </a:xfrm>
          <a:prstGeom prst="rect">
            <a:avLst/>
          </a:prstGeom>
          <a:noFill/>
          <a:ln>
            <a:solidFill>
              <a:srgbClr val="00206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anchor="ctr"/>
          <a:lstStyle/>
          <a:p>
            <a:pPr algn="ctr">
              <a:defRPr/>
            </a:pPr>
            <a:endParaRPr lang="ru-RU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" name="Прямоугольник 1"/>
              <p:cNvSpPr/>
              <p:nvPr/>
            </p:nvSpPr>
            <p:spPr>
              <a:xfrm>
                <a:off x="286327" y="3732618"/>
                <a:ext cx="6406879" cy="810671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2400" i="1" smtClean="0">
                          <a:latin typeface="Cambria Math" panose="02040503050406030204" pitchFamily="18" charset="0"/>
                        </a:rPr>
                        <m:t>𝑇</m:t>
                      </m:r>
                      <m:f>
                        <m:fPr>
                          <m:ctrlPr>
                            <a:rPr lang="ru-RU" sz="24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ru-RU" sz="2400" i="1">
                              <a:latin typeface="Cambria Math" panose="02040503050406030204" pitchFamily="18" charset="0"/>
                            </a:rPr>
                            <m:t>𝑑</m:t>
                          </m:r>
                          <m:sSub>
                            <m:sSubPr>
                              <m:ctrlPr>
                                <a:rPr lang="ru-RU" sz="24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𝑝</m:t>
                              </m:r>
                            </m:e>
                            <m:sub>
                              <m:r>
                                <a:rPr lang="ru-RU" sz="2400" i="1">
                                  <a:latin typeface="Cambria Math" panose="02040503050406030204" pitchFamily="18" charset="0"/>
                                </a:rPr>
                                <m:t>уст</m:t>
                              </m:r>
                            </m:sub>
                          </m:sSub>
                          <m:r>
                            <a:rPr lang="ru-RU" sz="2400" i="1">
                              <a:latin typeface="Cambria Math" panose="02040503050406030204" pitchFamily="18" charset="0"/>
                            </a:rPr>
                            <m:t>(выход)</m:t>
                          </m:r>
                        </m:num>
                        <m:den>
                          <m:r>
                            <a:rPr lang="ru-RU" sz="2400" i="1">
                              <a:latin typeface="Cambria Math" panose="02040503050406030204" pitchFamily="18" charset="0"/>
                            </a:rPr>
                            <m:t>𝑑𝑇</m:t>
                          </m:r>
                        </m:den>
                      </m:f>
                      <m:r>
                        <a:rPr lang="ru-RU" sz="2400" i="1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ru-RU" sz="24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𝑝</m:t>
                          </m:r>
                        </m:e>
                        <m:sub>
                          <m:r>
                            <a:rPr lang="ru-RU" sz="2400" i="1">
                              <a:latin typeface="Cambria Math" panose="02040503050406030204" pitchFamily="18" charset="0"/>
                            </a:rPr>
                            <m:t>уст</m:t>
                          </m:r>
                        </m:sub>
                      </m:sSub>
                      <m:d>
                        <m:dPr>
                          <m:ctrlPr>
                            <a:rPr lang="ru-RU" sz="2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ru-RU" sz="2400" i="1">
                              <a:latin typeface="Cambria Math" panose="02040503050406030204" pitchFamily="18" charset="0"/>
                            </a:rPr>
                            <m:t>выход</m:t>
                          </m:r>
                        </m:e>
                      </m:d>
                      <m:r>
                        <a:rPr lang="ru-RU" sz="2400" i="1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ru-RU" sz="2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𝑝</m:t>
                          </m:r>
                        </m:e>
                        <m:sub>
                          <m:r>
                            <a:rPr lang="ru-RU" sz="2400" i="1">
                              <a:latin typeface="Cambria Math" panose="02040503050406030204" pitchFamily="18" charset="0"/>
                            </a:rPr>
                            <m:t>уст</m:t>
                          </m:r>
                        </m:sub>
                      </m:sSub>
                      <m:d>
                        <m:dPr>
                          <m:ctrlPr>
                            <a:rPr lang="ru-RU" sz="2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ru-RU" sz="2400" i="1">
                              <a:latin typeface="Cambria Math" panose="02040503050406030204" pitchFamily="18" charset="0"/>
                            </a:rPr>
                            <m:t>вход</m:t>
                          </m:r>
                        </m:e>
                      </m:d>
                    </m:oMath>
                  </m:oMathPara>
                </a14:m>
                <a:endParaRPr lang="ru-RU" dirty="0"/>
              </a:p>
            </p:txBody>
          </p:sp>
        </mc:Choice>
        <mc:Fallback xmlns="">
          <p:sp>
            <p:nvSpPr>
              <p:cNvPr id="2" name="Прямоугольник 1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86327" y="3732618"/>
                <a:ext cx="6406879" cy="810671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" name="Прямоугольник 8"/>
              <p:cNvSpPr/>
              <p:nvPr/>
            </p:nvSpPr>
            <p:spPr>
              <a:xfrm>
                <a:off x="539749" y="4893032"/>
                <a:ext cx="4734215" cy="613886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14:m>
                  <m:oMath xmlns:m="http://schemas.openxmlformats.org/officeDocument/2006/math">
                    <m:sSub>
                      <m:sSubPr>
                        <m:ctrlPr>
                          <a:rPr lang="ru-RU" sz="2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𝑝</m:t>
                        </m:r>
                      </m:e>
                      <m:sub>
                        <m:r>
                          <a:rPr lang="ru-RU" sz="2400" i="1">
                            <a:latin typeface="Cambria Math" panose="02040503050406030204" pitchFamily="18" charset="0"/>
                          </a:rPr>
                          <m:t>изм</m:t>
                        </m:r>
                      </m:sub>
                    </m:sSub>
                    <m:r>
                      <a:rPr lang="ru-RU" sz="2400" b="0" i="1" smtClean="0">
                        <a:latin typeface="Cambria Math" panose="02040503050406030204" pitchFamily="18" charset="0"/>
                      </a:rPr>
                      <m:t>(выход)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sz="2400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𝑁</m:t>
                        </m:r>
                      </m:den>
                    </m:f>
                    <m:nary>
                      <m:naryPr>
                        <m:chr m:val="∑"/>
                        <m:ctrlPr>
                          <a:rPr lang="en-US" sz="2400" b="0" i="1" smtClean="0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m:rPr>
                            <m:brk m:alnAt="23"/>
                          </m:rPr>
                          <a:rPr lang="en-US" sz="2400" b="0" i="1" smtClean="0">
                            <a:latin typeface="Cambria Math" panose="02040503050406030204" pitchFamily="18" charset="0"/>
                          </a:rPr>
                          <m:t>𝑘</m:t>
                        </m:r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=0</m:t>
                        </m:r>
                      </m:sub>
                      <m:sup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𝑁</m:t>
                        </m:r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−1</m:t>
                        </m:r>
                      </m:sup>
                      <m:e>
                        <m:sSub>
                          <m:sSubPr>
                            <m:ctrlPr>
                              <a:rPr lang="ru-RU" sz="24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400" i="1">
                                <a:latin typeface="Cambria Math" panose="02040503050406030204" pitchFamily="18" charset="0"/>
                              </a:rPr>
                              <m:t>𝑝</m:t>
                            </m:r>
                          </m:e>
                          <m:sub>
                            <m:r>
                              <a:rPr lang="ru-RU" sz="2400" b="0" i="1" smtClean="0">
                                <a:latin typeface="Cambria Math" panose="02040503050406030204" pitchFamily="18" charset="0"/>
                              </a:rPr>
                              <m:t>изм</m:t>
                            </m:r>
                          </m:sub>
                        </m:sSub>
                        <m:r>
                          <a:rPr lang="ru-RU" sz="2400" b="0" i="1" smtClean="0">
                            <a:latin typeface="Cambria Math" panose="02040503050406030204" pitchFamily="18" charset="0"/>
                          </a:rPr>
                          <m:t>(вход</m:t>
                        </m:r>
                      </m:e>
                    </m:nary>
                  </m:oMath>
                </a14:m>
                <a:r>
                  <a:rPr lang="ru-RU" sz="2400" dirty="0" smtClean="0"/>
                  <a:t>)</a:t>
                </a:r>
                <a:endParaRPr lang="ru-RU" sz="2400" dirty="0"/>
              </a:p>
            </p:txBody>
          </p:sp>
        </mc:Choice>
        <mc:Fallback xmlns="">
          <p:sp>
            <p:nvSpPr>
              <p:cNvPr id="9" name="Прямоугольник 8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39749" y="4893032"/>
                <a:ext cx="4734215" cy="613886"/>
              </a:xfrm>
              <a:prstGeom prst="rect">
                <a:avLst/>
              </a:prstGeom>
              <a:blipFill>
                <a:blip r:embed="rId6"/>
                <a:stretch>
                  <a:fillRect b="-11000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TextBox 3"/>
          <p:cNvSpPr txBox="1"/>
          <p:nvPr/>
        </p:nvSpPr>
        <p:spPr>
          <a:xfrm>
            <a:off x="2906856" y="2872372"/>
            <a:ext cx="2881837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 smtClean="0"/>
              <a:t>-</a:t>
            </a:r>
            <a:r>
              <a:rPr lang="ru-RU" sz="2000" dirty="0" smtClean="0"/>
              <a:t>ошибка регулирования </a:t>
            </a:r>
            <a:endParaRPr lang="ru-RU" sz="2000" dirty="0"/>
          </a:p>
        </p:txBody>
      </p:sp>
      <p:sp>
        <p:nvSpPr>
          <p:cNvPr id="10" name="TextBox 9"/>
          <p:cNvSpPr txBox="1"/>
          <p:nvPr/>
        </p:nvSpPr>
        <p:spPr>
          <a:xfrm>
            <a:off x="6500571" y="3967805"/>
            <a:ext cx="4523294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 smtClean="0"/>
              <a:t>- </a:t>
            </a:r>
            <a:r>
              <a:rPr lang="ru-RU" sz="2000" dirty="0" smtClean="0"/>
              <a:t>апериодический фильтр уставки</a:t>
            </a:r>
            <a:endParaRPr lang="ru-RU" dirty="0"/>
          </a:p>
        </p:txBody>
      </p:sp>
      <p:sp>
        <p:nvSpPr>
          <p:cNvPr id="12" name="TextBox 11"/>
          <p:cNvSpPr txBox="1"/>
          <p:nvPr/>
        </p:nvSpPr>
        <p:spPr>
          <a:xfrm>
            <a:off x="5273964" y="4999920"/>
            <a:ext cx="3568862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- </a:t>
            </a:r>
            <a:r>
              <a:rPr lang="ru-RU" sz="2000" dirty="0" smtClean="0"/>
              <a:t>фильтр </a:t>
            </a:r>
            <a:r>
              <a:rPr lang="ru-RU" sz="2000" dirty="0"/>
              <a:t>скользящего среднего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169892" y="1993717"/>
            <a:ext cx="3072380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2000" dirty="0" smtClean="0"/>
              <a:t>- Уравнение ШИМ сигнала</a:t>
            </a:r>
            <a:endParaRPr lang="ru-RU" sz="2000" dirty="0"/>
          </a:p>
        </p:txBody>
      </p:sp>
    </p:spTree>
    <p:extLst>
      <p:ext uri="{BB962C8B-B14F-4D97-AF65-F5344CB8AC3E}">
        <p14:creationId xmlns:p14="http://schemas.microsoft.com/office/powerpoint/2010/main" val="352629224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Рисунок 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95413" y="1027611"/>
            <a:ext cx="7743899" cy="4534989"/>
          </a:xfrm>
          <a:prstGeom prst="rect">
            <a:avLst/>
          </a:prstGeom>
        </p:spPr>
      </p:pic>
      <p:sp>
        <p:nvSpPr>
          <p:cNvPr id="4" name="Прямоугольник 3"/>
          <p:cNvSpPr/>
          <p:nvPr/>
        </p:nvSpPr>
        <p:spPr>
          <a:xfrm>
            <a:off x="2329882" y="1345474"/>
            <a:ext cx="3618072" cy="1066800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5" name="Прямоугольник 4"/>
          <p:cNvSpPr/>
          <p:nvPr/>
        </p:nvSpPr>
        <p:spPr>
          <a:xfrm>
            <a:off x="2072979" y="2412274"/>
            <a:ext cx="3618072" cy="878477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6" name="Прямоугольник 5"/>
          <p:cNvSpPr/>
          <p:nvPr/>
        </p:nvSpPr>
        <p:spPr>
          <a:xfrm>
            <a:off x="3875653" y="3290751"/>
            <a:ext cx="1815398" cy="1520189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7" name="TextBox 6"/>
          <p:cNvSpPr txBox="1"/>
          <p:nvPr/>
        </p:nvSpPr>
        <p:spPr>
          <a:xfrm>
            <a:off x="2108152" y="948147"/>
            <a:ext cx="196002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Уставка давления </a:t>
            </a:r>
            <a:endParaRPr lang="ru-RU" dirty="0"/>
          </a:p>
        </p:txBody>
      </p:sp>
      <p:sp>
        <p:nvSpPr>
          <p:cNvPr id="8" name="TextBox 7"/>
          <p:cNvSpPr txBox="1"/>
          <p:nvPr/>
        </p:nvSpPr>
        <p:spPr>
          <a:xfrm>
            <a:off x="2072979" y="3341105"/>
            <a:ext cx="1545771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 smtClean="0"/>
              <a:t>Входящее давление</a:t>
            </a:r>
            <a:endParaRPr lang="ru-RU" dirty="0"/>
          </a:p>
        </p:txBody>
      </p:sp>
      <p:sp>
        <p:nvSpPr>
          <p:cNvPr id="9" name="TextBox 8"/>
          <p:cNvSpPr txBox="1"/>
          <p:nvPr/>
        </p:nvSpPr>
        <p:spPr>
          <a:xfrm>
            <a:off x="3422469" y="4890404"/>
            <a:ext cx="292608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 smtClean="0"/>
              <a:t>Коэффициенты для ПИД регулятора</a:t>
            </a:r>
            <a:endParaRPr lang="ru-RU" dirty="0"/>
          </a:p>
        </p:txBody>
      </p:sp>
      <p:sp>
        <p:nvSpPr>
          <p:cNvPr id="10" name="TextBox 9"/>
          <p:cNvSpPr txBox="1"/>
          <p:nvPr/>
        </p:nvSpPr>
        <p:spPr>
          <a:xfrm>
            <a:off x="8020594" y="1555708"/>
            <a:ext cx="1323703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 smtClean="0"/>
              <a:t>Выходной сигнал</a:t>
            </a:r>
            <a:endParaRPr lang="ru-RU" dirty="0"/>
          </a:p>
        </p:txBody>
      </p:sp>
      <p:sp>
        <p:nvSpPr>
          <p:cNvPr id="11" name="TextBox 10"/>
          <p:cNvSpPr txBox="1"/>
          <p:nvPr/>
        </p:nvSpPr>
        <p:spPr>
          <a:xfrm>
            <a:off x="7033019" y="4705738"/>
            <a:ext cx="164942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ПИД регулятор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39374238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Рисунок 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15291" y="1734861"/>
            <a:ext cx="9730876" cy="4877257"/>
          </a:xfrm>
          <a:prstGeom prst="rect">
            <a:avLst/>
          </a:prstGeom>
        </p:spPr>
      </p:pic>
      <p:sp>
        <p:nvSpPr>
          <p:cNvPr id="3" name="Прямоугольник 2"/>
          <p:cNvSpPr/>
          <p:nvPr/>
        </p:nvSpPr>
        <p:spPr>
          <a:xfrm>
            <a:off x="3622766" y="1734861"/>
            <a:ext cx="3291840" cy="1295722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4" name="Прямоугольник 3"/>
          <p:cNvSpPr/>
          <p:nvPr/>
        </p:nvSpPr>
        <p:spPr>
          <a:xfrm>
            <a:off x="2682240" y="3030583"/>
            <a:ext cx="4232366" cy="1295722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5" name="Прямоугольник 4"/>
          <p:cNvSpPr/>
          <p:nvPr/>
        </p:nvSpPr>
        <p:spPr>
          <a:xfrm>
            <a:off x="2682240" y="4326305"/>
            <a:ext cx="4232366" cy="1700026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cxnSp>
        <p:nvCxnSpPr>
          <p:cNvPr id="7" name="Прямая со стрелкой 6"/>
          <p:cNvCxnSpPr/>
          <p:nvPr/>
        </p:nvCxnSpPr>
        <p:spPr>
          <a:xfrm flipH="1">
            <a:off x="6914607" y="1663337"/>
            <a:ext cx="1062444" cy="158610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Прямая со стрелкой 7"/>
          <p:cNvCxnSpPr/>
          <p:nvPr/>
        </p:nvCxnSpPr>
        <p:spPr>
          <a:xfrm flipH="1" flipV="1">
            <a:off x="6914607" y="4129718"/>
            <a:ext cx="1471747" cy="755791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Прямая со стрелкой 9"/>
          <p:cNvCxnSpPr/>
          <p:nvPr/>
        </p:nvCxnSpPr>
        <p:spPr>
          <a:xfrm flipH="1" flipV="1">
            <a:off x="6927671" y="6026331"/>
            <a:ext cx="1815735" cy="130629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8125097" y="1365529"/>
            <a:ext cx="268054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Пропорциональная часть</a:t>
            </a:r>
            <a:endParaRPr lang="ru-RU" dirty="0"/>
          </a:p>
        </p:txBody>
      </p:sp>
      <p:sp>
        <p:nvSpPr>
          <p:cNvPr id="14" name="TextBox 13"/>
          <p:cNvSpPr txBox="1"/>
          <p:nvPr/>
        </p:nvSpPr>
        <p:spPr>
          <a:xfrm>
            <a:off x="8386354" y="4763589"/>
            <a:ext cx="210942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Интегральная часть</a:t>
            </a:r>
            <a:endParaRPr lang="ru-RU" dirty="0"/>
          </a:p>
        </p:txBody>
      </p:sp>
      <p:sp>
        <p:nvSpPr>
          <p:cNvPr id="15" name="TextBox 14"/>
          <p:cNvSpPr txBox="1"/>
          <p:nvPr/>
        </p:nvSpPr>
        <p:spPr>
          <a:xfrm>
            <a:off x="8743406" y="6091645"/>
            <a:ext cx="27222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Дифференциальная часть</a:t>
            </a:r>
            <a:endParaRPr lang="ru-RU" dirty="0"/>
          </a:p>
        </p:txBody>
      </p:sp>
      <p:cxnSp>
        <p:nvCxnSpPr>
          <p:cNvPr id="18" name="Прямая со стрелкой 17"/>
          <p:cNvCxnSpPr/>
          <p:nvPr/>
        </p:nvCxnSpPr>
        <p:spPr>
          <a:xfrm flipH="1">
            <a:off x="9659756" y="3030583"/>
            <a:ext cx="444760" cy="596147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10104516" y="2634216"/>
            <a:ext cx="1686890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 smtClean="0"/>
              <a:t>Выходной сигнал с регулятора</a:t>
            </a:r>
            <a:endParaRPr lang="ru-RU" dirty="0"/>
          </a:p>
        </p:txBody>
      </p:sp>
      <p:cxnSp>
        <p:nvCxnSpPr>
          <p:cNvPr id="21" name="Прямая со стрелкой 20"/>
          <p:cNvCxnSpPr/>
          <p:nvPr/>
        </p:nvCxnSpPr>
        <p:spPr>
          <a:xfrm>
            <a:off x="2830286" y="1428206"/>
            <a:ext cx="191589" cy="1327930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1823806" y="1067911"/>
            <a:ext cx="249978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Ошибка регулирования</a:t>
            </a:r>
            <a:endParaRPr lang="ru-RU" dirty="0"/>
          </a:p>
        </p:txBody>
      </p:sp>
      <p:sp>
        <p:nvSpPr>
          <p:cNvPr id="25" name="TextBox 24"/>
          <p:cNvSpPr txBox="1"/>
          <p:nvPr/>
        </p:nvSpPr>
        <p:spPr>
          <a:xfrm>
            <a:off x="4323593" y="533002"/>
            <a:ext cx="302691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Архитектура ПИД регулятора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356100424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Рисунок 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29097" y="2011680"/>
            <a:ext cx="8342812" cy="484632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4389120" y="278674"/>
            <a:ext cx="288950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ESDL-</a:t>
            </a:r>
            <a:r>
              <a:rPr lang="ru-RU" dirty="0" smtClean="0"/>
              <a:t>файл ПИД регулятора 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424419396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Рисунок 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6718" y="2273501"/>
            <a:ext cx="11397343" cy="2330475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870675" y="1071154"/>
            <a:ext cx="427590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 smtClean="0"/>
              <a:t>Фильтр скользящего среднего</a:t>
            </a:r>
            <a:endParaRPr lang="ru-RU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4" name="Прямоугольник 3"/>
              <p:cNvSpPr/>
              <p:nvPr/>
            </p:nvSpPr>
            <p:spPr>
              <a:xfrm>
                <a:off x="870675" y="1659615"/>
                <a:ext cx="4734215" cy="613886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14:m>
                  <m:oMath xmlns:m="http://schemas.openxmlformats.org/officeDocument/2006/math">
                    <m:sSub>
                      <m:sSubPr>
                        <m:ctrlPr>
                          <a:rPr lang="ru-RU" sz="2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𝑝</m:t>
                        </m:r>
                      </m:e>
                      <m:sub>
                        <m:r>
                          <a:rPr lang="ru-RU" sz="2400" i="1">
                            <a:latin typeface="Cambria Math" panose="02040503050406030204" pitchFamily="18" charset="0"/>
                          </a:rPr>
                          <m:t>изм</m:t>
                        </m:r>
                      </m:sub>
                    </m:sSub>
                    <m:r>
                      <a:rPr lang="ru-RU" sz="2400" b="0" i="1" smtClean="0">
                        <a:latin typeface="Cambria Math" panose="02040503050406030204" pitchFamily="18" charset="0"/>
                      </a:rPr>
                      <m:t>(выход)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sz="2400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𝑁</m:t>
                        </m:r>
                      </m:den>
                    </m:f>
                    <m:nary>
                      <m:naryPr>
                        <m:chr m:val="∑"/>
                        <m:ctrlPr>
                          <a:rPr lang="en-US" sz="2400" b="0" i="1" smtClean="0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m:rPr>
                            <m:brk m:alnAt="23"/>
                          </m:rPr>
                          <a:rPr lang="en-US" sz="2400" b="0" i="1" smtClean="0">
                            <a:latin typeface="Cambria Math" panose="02040503050406030204" pitchFamily="18" charset="0"/>
                          </a:rPr>
                          <m:t>𝑘</m:t>
                        </m:r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=0</m:t>
                        </m:r>
                      </m:sub>
                      <m:sup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𝑁</m:t>
                        </m:r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−1</m:t>
                        </m:r>
                      </m:sup>
                      <m:e>
                        <m:sSub>
                          <m:sSubPr>
                            <m:ctrlPr>
                              <a:rPr lang="ru-RU" sz="24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400" i="1">
                                <a:latin typeface="Cambria Math" panose="02040503050406030204" pitchFamily="18" charset="0"/>
                              </a:rPr>
                              <m:t>𝑝</m:t>
                            </m:r>
                          </m:e>
                          <m:sub>
                            <m:r>
                              <a:rPr lang="ru-RU" sz="2400" b="0" i="1" smtClean="0">
                                <a:latin typeface="Cambria Math" panose="02040503050406030204" pitchFamily="18" charset="0"/>
                              </a:rPr>
                              <m:t>изм</m:t>
                            </m:r>
                          </m:sub>
                        </m:sSub>
                        <m:r>
                          <a:rPr lang="ru-RU" sz="2400" b="0" i="1" smtClean="0">
                            <a:latin typeface="Cambria Math" panose="02040503050406030204" pitchFamily="18" charset="0"/>
                          </a:rPr>
                          <m:t>(вход</m:t>
                        </m:r>
                      </m:e>
                    </m:nary>
                  </m:oMath>
                </a14:m>
                <a:r>
                  <a:rPr lang="ru-RU" sz="2400" dirty="0" smtClean="0"/>
                  <a:t>)</a:t>
                </a:r>
                <a:endParaRPr lang="ru-RU" sz="2400" dirty="0"/>
              </a:p>
            </p:txBody>
          </p:sp>
        </mc:Choice>
        <mc:Fallback>
          <p:sp>
            <p:nvSpPr>
              <p:cNvPr id="4" name="Прямоугольник 3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70675" y="1659615"/>
                <a:ext cx="4734215" cy="613886"/>
              </a:xfrm>
              <a:prstGeom prst="rect">
                <a:avLst/>
              </a:prstGeom>
              <a:blipFill>
                <a:blip r:embed="rId3"/>
                <a:stretch>
                  <a:fillRect b="-9901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98127578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Рисунок 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0" y="1509712"/>
            <a:ext cx="8534400" cy="3838575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2499360" y="827314"/>
            <a:ext cx="3504101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/>
              <a:t>А</a:t>
            </a:r>
            <a:r>
              <a:rPr lang="ru-RU" dirty="0" smtClean="0"/>
              <a:t>периодический </a:t>
            </a:r>
            <a:r>
              <a:rPr lang="ru-RU" dirty="0"/>
              <a:t>фильтр </a:t>
            </a:r>
            <a:r>
              <a:rPr lang="ru-RU" dirty="0" err="1" smtClean="0"/>
              <a:t>уставки</a:t>
            </a:r>
            <a:r>
              <a:rPr lang="ru-RU" dirty="0" smtClean="0"/>
              <a:t>?</a:t>
            </a:r>
            <a:endParaRPr lang="ru-RU" dirty="0" smtClean="0"/>
          </a:p>
          <a:p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3141296204"/>
      </p:ext>
    </p:extLst>
  </p:cSld>
  <p:clrMapOvr>
    <a:masterClrMapping/>
  </p:clrMapOvr>
</p:sld>
</file>

<file path=ppt/theme/theme1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1814</TotalTime>
  <Words>60</Words>
  <Application>Microsoft Office PowerPoint</Application>
  <PresentationFormat>Широкоэкранный</PresentationFormat>
  <Paragraphs>23</Paragraphs>
  <Slides>6</Slides>
  <Notes>0</Notes>
  <HiddenSlides>0</HiddenSlides>
  <MMClips>0</MMClips>
  <ScaleCrop>false</ScaleCrop>
  <HeadingPairs>
    <vt:vector size="8" baseType="variant">
      <vt:variant>
        <vt:lpstr>Использованные шрифты</vt:lpstr>
      </vt:variant>
      <vt:variant>
        <vt:i4>5</vt:i4>
      </vt:variant>
      <vt:variant>
        <vt:lpstr>Тема</vt:lpstr>
      </vt:variant>
      <vt:variant>
        <vt:i4>1</vt:i4>
      </vt:variant>
      <vt:variant>
        <vt:lpstr>Внедренные серверы OLE</vt:lpstr>
      </vt:variant>
      <vt:variant>
        <vt:i4>1</vt:i4>
      </vt:variant>
      <vt:variant>
        <vt:lpstr>Заголовки слайдов</vt:lpstr>
      </vt:variant>
      <vt:variant>
        <vt:i4>6</vt:i4>
      </vt:variant>
    </vt:vector>
  </HeadingPairs>
  <TitlesOfParts>
    <vt:vector size="13" baseType="lpstr">
      <vt:lpstr>Arial</vt:lpstr>
      <vt:lpstr>Calibri</vt:lpstr>
      <vt:lpstr>Calibri Light</vt:lpstr>
      <vt:lpstr>Cambria Math</vt:lpstr>
      <vt:lpstr>Times New Roman</vt:lpstr>
      <vt:lpstr>Тема Office</vt:lpstr>
      <vt:lpstr>Equation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</vt:vector>
  </TitlesOfParts>
  <Company>SPecialiST RePack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Презентация PowerPoint</dc:title>
  <dc:creator>Пользователь</dc:creator>
  <cp:lastModifiedBy>Пользователь</cp:lastModifiedBy>
  <cp:revision>4</cp:revision>
  <dcterms:created xsi:type="dcterms:W3CDTF">2022-02-05T13:01:35Z</dcterms:created>
  <dcterms:modified xsi:type="dcterms:W3CDTF">2022-02-06T19:15:56Z</dcterms:modified>
</cp:coreProperties>
</file>