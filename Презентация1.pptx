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2" r:id="rId4"/>
    <p:sldId id="258" r:id="rId5"/>
    <p:sldId id="263" r:id="rId6"/>
    <p:sldId id="264" r:id="rId7"/>
    <p:sldId id="259" r:id="rId8"/>
    <p:sldId id="260" r:id="rId9"/>
    <p:sldId id="274" r:id="rId10"/>
    <p:sldId id="275" r:id="rId11"/>
    <p:sldId id="272" r:id="rId12"/>
    <p:sldId id="273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81" autoAdjust="0"/>
    <p:restoredTop sz="94660"/>
  </p:normalViewPr>
  <p:slideViewPr>
    <p:cSldViewPr snapToGrid="0">
      <p:cViewPr varScale="1">
        <p:scale>
          <a:sx n="48" d="100"/>
          <a:sy n="48" d="100"/>
        </p:scale>
        <p:origin x="77" y="9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672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840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928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328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0830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2776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483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536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899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16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77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F0F75-C579-4C28-9547-144EAD9AD0C4}" type="datetimeFigureOut">
              <a:rPr lang="ru-RU" smtClean="0"/>
              <a:t>27.03.2022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944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w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>
          <a:blip r:embed="rId2"/>
          <a:stretch>
            <a:fillRect/>
          </a:stretch>
        </p:blipFill>
        <p:spPr>
          <a:xfrm>
            <a:off x="2710866" y="1122623"/>
            <a:ext cx="5721531" cy="4519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10866" y="627017"/>
            <a:ext cx="5914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Этапы проектирования встраиваемой системы (</a:t>
            </a:r>
            <a:r>
              <a:rPr lang="en-US" dirty="0" smtClean="0"/>
              <a:t>V-</a:t>
            </a:r>
            <a:r>
              <a:rPr lang="ru-RU" dirty="0" smtClean="0"/>
              <a:t>модель)</a:t>
            </a: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287382" y="2849880"/>
            <a:ext cx="2945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логики алгоритма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600891" y="4894217"/>
            <a:ext cx="350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сгенерированного кода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7628453" y="4063220"/>
            <a:ext cx="3640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Встраиваемая система </a:t>
            </a:r>
          </a:p>
          <a:p>
            <a:r>
              <a:rPr lang="ru-RU" dirty="0" smtClean="0"/>
              <a:t>взаимодействует с </a:t>
            </a:r>
          </a:p>
          <a:p>
            <a:r>
              <a:rPr lang="ru-RU" dirty="0" smtClean="0"/>
              <a:t>математической моделью</a:t>
            </a:r>
          </a:p>
          <a:p>
            <a:r>
              <a:rPr lang="ru-RU" dirty="0" smtClean="0"/>
              <a:t> объекта управления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361509" y="1428206"/>
            <a:ext cx="1157151" cy="42735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требования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3801292" y="2381404"/>
            <a:ext cx="1162594" cy="46847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Проектирова-ние модели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109800" y="3560096"/>
            <a:ext cx="1140823" cy="4191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Разработка ПО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6079145" y="3560096"/>
            <a:ext cx="1163665" cy="4191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Модуль тестирования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6423660" y="2381404"/>
            <a:ext cx="1152525" cy="43990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Интегрированные тестирования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6663690" y="1428206"/>
            <a:ext cx="1162050" cy="42735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Валидация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754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://pubs.sciepub.com/automation/5/2/7/bigimage/fig6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5132" y="-1010076"/>
            <a:ext cx="8360227" cy="3587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367475" y="3807995"/>
            <a:ext cx="304479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модели в цикле (</a:t>
            </a:r>
            <a:r>
              <a:rPr lang="ru-RU" dirty="0" err="1"/>
              <a:t>MiL</a:t>
            </a:r>
            <a:r>
              <a:rPr lang="ru-RU" dirty="0"/>
              <a:t>) проводится на ранних стадиях разработки. На этом этапе фиксируется динамика виртуальной модели и создается контроллер на основе входных данных виртуальной модели.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8316" y="3802466"/>
            <a:ext cx="323386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программного обеспечения в цикле (</a:t>
            </a:r>
            <a:r>
              <a:rPr lang="ru-RU" dirty="0" err="1" smtClean="0"/>
              <a:t>SiL</a:t>
            </a:r>
            <a:r>
              <a:rPr lang="ru-RU" dirty="0" smtClean="0"/>
              <a:t>). Код </a:t>
            </a:r>
            <a:r>
              <a:rPr lang="ru-RU" dirty="0"/>
              <a:t>тестируется в виртуальной среде, без каких-либо аппаратных средств, чтобы проверить, насколько хорошо программное обеспечение справляется с моделируемой системой.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29" y="3802465"/>
            <a:ext cx="330922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</a:t>
            </a:r>
            <a:r>
              <a:rPr lang="ru-RU" dirty="0" smtClean="0"/>
              <a:t>(HIL) </a:t>
            </a:r>
            <a:r>
              <a:rPr lang="ru-RU" dirty="0"/>
              <a:t>- это метод, при котором реальные сигналы от контроллера подключаются к тестовой системе, которая имитирует реальность, обманывая контроллер, заставляя его думать, что он находится в собранном продукте.</a:t>
            </a:r>
          </a:p>
        </p:txBody>
      </p:sp>
    </p:spTree>
    <p:extLst>
      <p:ext uri="{BB962C8B-B14F-4D97-AF65-F5344CB8AC3E}">
        <p14:creationId xmlns:p14="http://schemas.microsoft.com/office/powerpoint/2010/main" val="11712729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0205104"/>
              </p:ext>
            </p:extLst>
          </p:nvPr>
        </p:nvGraphicFramePr>
        <p:xfrm>
          <a:off x="539749" y="1588144"/>
          <a:ext cx="5394325" cy="1684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7" name="Equation" r:id="rId3" imgW="2806560" imgH="825480" progId="Equation.DSMT4">
                  <p:embed/>
                </p:oleObj>
              </mc:Choice>
              <mc:Fallback>
                <p:oleObj name="Equation" r:id="rId3" imgW="2806560" imgH="825480" progId="Equation.DSMT4">
                  <p:embed/>
                  <p:pic>
                    <p:nvPicPr>
                      <p:cNvPr id="5" name="Объект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49" y="1588144"/>
                        <a:ext cx="5394325" cy="168433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86327" y="534552"/>
            <a:ext cx="115802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алгоритма – основные уравнения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рямоугольник 1"/>
              <p:cNvSpPr/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" name="Прямоугольник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  <a:blipFill>
                <a:blip r:embed="rId6"/>
                <a:stretch>
                  <a:fillRect b="-11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2906856" y="2872372"/>
            <a:ext cx="28818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r>
              <a:rPr lang="ru-RU" sz="2000" dirty="0" smtClean="0"/>
              <a:t>ошибка регулирования </a:t>
            </a:r>
            <a:endParaRPr lang="ru-R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6500571" y="3967805"/>
            <a:ext cx="4523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апериодический фильтр уставки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5273964" y="4999920"/>
            <a:ext cx="35688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фильтр </a:t>
            </a:r>
            <a:r>
              <a:rPr lang="ru-RU" sz="2000" dirty="0"/>
              <a:t>скользящего среднего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8197" y="1990424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 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26292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13" y="1027611"/>
            <a:ext cx="7743899" cy="4534989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329882" y="1345474"/>
            <a:ext cx="3618072" cy="10668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072979" y="2412274"/>
            <a:ext cx="3618072" cy="8784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3875653" y="3290751"/>
            <a:ext cx="1815398" cy="152018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092966" y="676883"/>
            <a:ext cx="1960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Уставка давления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575288" y="3926365"/>
            <a:ext cx="1545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Входящее давление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121059" y="5382398"/>
            <a:ext cx="2926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Коэффициенты для ПИД регулятора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7955280" y="908259"/>
            <a:ext cx="1323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7493725" y="4733865"/>
            <a:ext cx="1649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 регулятор</a:t>
            </a:r>
            <a:endParaRPr lang="ru-RU" dirty="0"/>
          </a:p>
        </p:txBody>
      </p:sp>
      <p:cxnSp>
        <p:nvCxnSpPr>
          <p:cNvPr id="12" name="Прямая со стрелкой 11"/>
          <p:cNvCxnSpPr/>
          <p:nvPr/>
        </p:nvCxnSpPr>
        <p:spPr>
          <a:xfrm>
            <a:off x="1797783" y="1009356"/>
            <a:ext cx="550391" cy="444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/>
          <p:nvPr/>
        </p:nvCxnSpPr>
        <p:spPr>
          <a:xfrm flipV="1">
            <a:off x="1797783" y="3309007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flipV="1">
            <a:off x="3537489" y="4795530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 flipV="1">
            <a:off x="7759338" y="4388944"/>
            <a:ext cx="391885" cy="4065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>
            <a:off x="8318438" y="1567543"/>
            <a:ext cx="85333" cy="5747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742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91" y="1734861"/>
            <a:ext cx="9730876" cy="4877257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22766" y="1734861"/>
            <a:ext cx="3291840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682240" y="3030583"/>
            <a:ext cx="4232366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682240" y="4326305"/>
            <a:ext cx="4232366" cy="17000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6914607" y="1663337"/>
            <a:ext cx="1062444" cy="1586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 flipV="1">
            <a:off x="6914607" y="4129718"/>
            <a:ext cx="1471747" cy="7557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6927671" y="6026331"/>
            <a:ext cx="1815735" cy="1306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25097" y="1365529"/>
            <a:ext cx="26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Пропорциональная часть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8386354" y="4763589"/>
            <a:ext cx="2109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Интегральная часть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743406" y="6091645"/>
            <a:ext cx="272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Дифференциальная часть</a:t>
            </a:r>
            <a:endParaRPr lang="ru-RU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 flipH="1">
            <a:off x="9659756" y="3030583"/>
            <a:ext cx="444760" cy="5961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104516" y="2634216"/>
            <a:ext cx="16868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 с регулятора</a:t>
            </a:r>
            <a:endParaRPr lang="ru-RU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>
            <a:off x="2830286" y="1428206"/>
            <a:ext cx="191589" cy="1327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3806" y="1067911"/>
            <a:ext cx="2499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регулирования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4323593" y="533002"/>
            <a:ext cx="3026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Архитектура ПИД регулятора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61004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59" y="1541417"/>
            <a:ext cx="8342812" cy="4846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389120" y="278674"/>
            <a:ext cx="288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ESDL-</a:t>
            </a:r>
            <a:r>
              <a:rPr lang="ru-RU" dirty="0" smtClean="0"/>
              <a:t>файл ПИД регулятора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4193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18" y="2273501"/>
            <a:ext cx="11397343" cy="23304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487632" y="513805"/>
            <a:ext cx="3275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Фильтр скользящего среднего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  <a:blipFill>
                <a:blip r:embed="rId3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12757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914" y="2511198"/>
            <a:ext cx="8534400" cy="38385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52063" y="713873"/>
            <a:ext cx="350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</a:t>
            </a:r>
            <a:r>
              <a:rPr lang="ru-RU" dirty="0" smtClean="0"/>
              <a:t>периодический </a:t>
            </a:r>
            <a:r>
              <a:rPr lang="ru-RU" dirty="0"/>
              <a:t>фильтр </a:t>
            </a:r>
            <a:r>
              <a:rPr lang="ru-RU" dirty="0" smtClean="0"/>
              <a:t>уставки</a:t>
            </a:r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663337" y="184621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1296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45" y="278674"/>
            <a:ext cx="11643750" cy="633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338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773" y="170769"/>
            <a:ext cx="2933700" cy="216217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773" y="2375261"/>
            <a:ext cx="2981325" cy="2162175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2773" y="4537436"/>
            <a:ext cx="3009900" cy="2162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55771" y="1067190"/>
            <a:ext cx="4146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 регулятор долго выходит на режим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5355771" y="3271682"/>
            <a:ext cx="2166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Перерегулирование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5355771" y="5433857"/>
            <a:ext cx="3326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Приемлемая работа регулятора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849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6"/>
          <p:cNvSpPr/>
          <p:nvPr/>
        </p:nvSpPr>
        <p:spPr>
          <a:xfrm>
            <a:off x="4328115" y="1256414"/>
            <a:ext cx="3466012" cy="4084320"/>
          </a:xfrm>
          <a:prstGeom prst="round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812" y="1426411"/>
            <a:ext cx="2719052" cy="1597290"/>
          </a:xfrm>
          <a:prstGeom prst="rect">
            <a:avLst/>
          </a:prstGeom>
        </p:spPr>
      </p:pic>
      <p:sp>
        <p:nvSpPr>
          <p:cNvPr id="10" name="Скругленный прямоугольник 9"/>
          <p:cNvSpPr/>
          <p:nvPr/>
        </p:nvSpPr>
        <p:spPr>
          <a:xfrm>
            <a:off x="4615497" y="3570710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ПИД-регулятор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2" name="Прямая соединительная линия 11"/>
          <p:cNvCxnSpPr>
            <a:stCxn id="9" idx="3"/>
          </p:cNvCxnSpPr>
          <p:nvPr/>
        </p:nvCxnSpPr>
        <p:spPr>
          <a:xfrm>
            <a:off x="7323864" y="2225056"/>
            <a:ext cx="1045029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7309812" y="4321638"/>
            <a:ext cx="105908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/>
          <p:cNvCxnSpPr/>
          <p:nvPr/>
        </p:nvCxnSpPr>
        <p:spPr>
          <a:xfrm>
            <a:off x="8368893" y="2240110"/>
            <a:ext cx="0" cy="2081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8368893" y="3174396"/>
            <a:ext cx="421944" cy="6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/>
          <p:cNvSpPr/>
          <p:nvPr/>
        </p:nvSpPr>
        <p:spPr>
          <a:xfrm>
            <a:off x="8790837" y="2444561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 управления</a:t>
            </a: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ТС аккумуляторного типа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1" name="Прямая соединительная линия 20"/>
          <p:cNvCxnSpPr>
            <a:stCxn id="18" idx="3"/>
          </p:cNvCxnSpPr>
          <p:nvPr/>
        </p:nvCxnSpPr>
        <p:spPr>
          <a:xfrm flipV="1">
            <a:off x="11499204" y="3180435"/>
            <a:ext cx="35402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>
            <a:off x="11840887" y="3180436"/>
            <a:ext cx="0" cy="28720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 flipH="1">
            <a:off x="3817338" y="6052457"/>
            <a:ext cx="803588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единительная линия 26"/>
          <p:cNvCxnSpPr>
            <a:endCxn id="32" idx="2"/>
          </p:cNvCxnSpPr>
          <p:nvPr/>
        </p:nvCxnSpPr>
        <p:spPr>
          <a:xfrm flipH="1" flipV="1">
            <a:off x="3794904" y="4482943"/>
            <a:ext cx="22434" cy="1569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Овал 27"/>
          <p:cNvSpPr/>
          <p:nvPr/>
        </p:nvSpPr>
        <p:spPr>
          <a:xfrm>
            <a:off x="3599623" y="4126281"/>
            <a:ext cx="400595" cy="37645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676675" y="4113611"/>
            <a:ext cx="236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endParaRPr lang="ru-RU" dirty="0"/>
          </a:p>
        </p:txBody>
      </p:sp>
      <p:cxnSp>
        <p:nvCxnSpPr>
          <p:cNvPr id="35" name="Прямая соединительная линия 34"/>
          <p:cNvCxnSpPr>
            <a:stCxn id="28" idx="6"/>
            <a:endCxn id="10" idx="1"/>
          </p:cNvCxnSpPr>
          <p:nvPr/>
        </p:nvCxnSpPr>
        <p:spPr>
          <a:xfrm flipV="1">
            <a:off x="4000218" y="4306585"/>
            <a:ext cx="615279" cy="79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/>
          <p:cNvCxnSpPr>
            <a:stCxn id="28" idx="2"/>
          </p:cNvCxnSpPr>
          <p:nvPr/>
        </p:nvCxnSpPr>
        <p:spPr>
          <a:xfrm flipH="1" flipV="1">
            <a:off x="3395650" y="4314510"/>
            <a:ext cx="20397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Скругленный прямоугольник 47"/>
          <p:cNvSpPr/>
          <p:nvPr/>
        </p:nvSpPr>
        <p:spPr>
          <a:xfrm>
            <a:off x="333099" y="2444561"/>
            <a:ext cx="2698906" cy="14792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Уставка </a:t>
            </a:r>
            <a:r>
              <a:rPr lang="ru-RU" dirty="0"/>
              <a:t>д</a:t>
            </a:r>
            <a:r>
              <a:rPr lang="ru-RU" dirty="0" smtClean="0"/>
              <a:t>авления</a:t>
            </a:r>
            <a:endParaRPr lang="ru-RU" dirty="0"/>
          </a:p>
        </p:txBody>
      </p:sp>
      <p:cxnSp>
        <p:nvCxnSpPr>
          <p:cNvPr id="50" name="Прямая соединительная линия 49"/>
          <p:cNvCxnSpPr>
            <a:stCxn id="48" idx="3"/>
          </p:cNvCxnSpPr>
          <p:nvPr/>
        </p:nvCxnSpPr>
        <p:spPr>
          <a:xfrm>
            <a:off x="3032005" y="3184179"/>
            <a:ext cx="341683" cy="66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единительная линия 51"/>
          <p:cNvCxnSpPr/>
          <p:nvPr/>
        </p:nvCxnSpPr>
        <p:spPr>
          <a:xfrm>
            <a:off x="3379068" y="3200232"/>
            <a:ext cx="0" cy="1121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единительная линия 54"/>
          <p:cNvCxnSpPr>
            <a:stCxn id="9" idx="1"/>
          </p:cNvCxnSpPr>
          <p:nvPr/>
        </p:nvCxnSpPr>
        <p:spPr>
          <a:xfrm flipH="1">
            <a:off x="3362487" y="2225056"/>
            <a:ext cx="1242325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единительная линия 56"/>
          <p:cNvCxnSpPr/>
          <p:nvPr/>
        </p:nvCxnSpPr>
        <p:spPr>
          <a:xfrm flipV="1">
            <a:off x="3379068" y="2240110"/>
            <a:ext cx="0" cy="9601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84622" y="380391"/>
            <a:ext cx="30952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Комбинированный регулятор</a:t>
            </a:r>
          </a:p>
          <a:p>
            <a:r>
              <a:rPr lang="ru-RU" dirty="0" smtClean="0"/>
              <a:t> управления давлением в ТС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8436813" y="5495365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</a:t>
            </a:r>
            <a:r>
              <a:rPr lang="ru-RU" sz="1000" dirty="0" err="1" smtClean="0"/>
              <a:t>ак</a:t>
            </a:r>
            <a:endParaRPr lang="ru-RU" sz="1000" dirty="0"/>
          </a:p>
        </p:txBody>
      </p:sp>
      <p:cxnSp>
        <p:nvCxnSpPr>
          <p:cNvPr id="62" name="Прямая со стрелкой 61"/>
          <p:cNvCxnSpPr/>
          <p:nvPr/>
        </p:nvCxnSpPr>
        <p:spPr>
          <a:xfrm flipH="1">
            <a:off x="8436813" y="1326776"/>
            <a:ext cx="492034" cy="14881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368893" y="764190"/>
            <a:ext cx="3552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ШИМ сигнал управления </a:t>
            </a:r>
          </a:p>
          <a:p>
            <a:r>
              <a:rPr lang="ru-RU" dirty="0" smtClean="0"/>
              <a:t>дросселирующим клапаном ТНВД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8205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74" y="495570"/>
            <a:ext cx="8468036" cy="59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926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2698</TotalTime>
  <Words>221</Words>
  <Application>Microsoft Office PowerPoint</Application>
  <PresentationFormat>Широкоэкранный</PresentationFormat>
  <Paragraphs>52</Paragraphs>
  <Slides>12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Times New Roman</vt:lpstr>
      <vt:lpstr>Тема Office</vt:lpstr>
      <vt:lpstr>Equation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Пользователь</cp:lastModifiedBy>
  <cp:revision>31</cp:revision>
  <dcterms:created xsi:type="dcterms:W3CDTF">2022-02-05T13:01:35Z</dcterms:created>
  <dcterms:modified xsi:type="dcterms:W3CDTF">2022-03-27T16:23:20Z</dcterms:modified>
</cp:coreProperties>
</file>