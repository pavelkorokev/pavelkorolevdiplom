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71" r:id="rId5"/>
    <p:sldId id="269" r:id="rId6"/>
    <p:sldId id="260" r:id="rId7"/>
    <p:sldId id="264" r:id="rId8"/>
    <p:sldId id="272" r:id="rId9"/>
    <p:sldId id="273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DIPLOM\&#1073;&#1091;&#1084;&#1072;&#1078;&#1082;&#1080;%20&#1085;&#1072;%20&#1076;&#1080;&#1087;&#1083;&#1086;&#1084;\&#1080;&#1089;&#1083;&#1077;&#1076;&#1086;&#1074;&#1072;&#1090;&#1077;&#1083;&#1100;&#1089;&#1082;&#1072;&#1103;%20&#1095;&#1072;&#1089;&#1090;&#1100;\&#1050;&#1085;&#1080;&#1075;&#1072;1%20(&#1042;&#1086;&#1089;&#1089;&#1090;&#1072;&#1085;&#1086;&#1074;&#1083;&#1077;&#1085;&#1085;&#1099;&#1081;)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AppData\Roaming\Microsoft\Excel\&#1050;&#1085;&#1080;&#1075;&#1072;1%20(&#1042;&#1086;&#1089;&#1089;&#1090;&#1072;&#1085;&#1086;&#1074;&#1083;&#1077;&#1085;&#1085;&#1099;&#1081;)%20(version%201).xlsb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567825896762902"/>
          <c:y val="5.0925925925925923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tx>
            <c:v>традиционный метод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Лист1!$M$4</c:f>
              <c:numCache>
                <c:formatCode>#,##0</c:formatCode>
                <c:ptCount val="1"/>
                <c:pt idx="0">
                  <c:v>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BB-462D-AFC8-B00B195ECD6F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3BBB-462D-AFC8-B00B195ECD6F}"/>
            </c:ext>
          </c:extLst>
        </c:ser>
        <c:ser>
          <c:idx val="2"/>
          <c:order val="2"/>
          <c:tx>
            <c:v>новый метод</c:v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val>
            <c:numRef>
              <c:f>Лист1!$M$5</c:f>
              <c:numCache>
                <c:formatCode>#,##0</c:formatCode>
                <c:ptCount val="1"/>
                <c:pt idx="0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BB-462D-AFC8-B00B195ECD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01227034120735"/>
          <c:y val="5.0925846159147574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Лист1!$M$8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66-4A74-9FDA-63CC6D4310C1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3166-4A74-9FDA-63CC6D4310C1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Лист1!$M$9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66-4A74-9FDA-63CC6D4310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567825896762902"/>
          <c:y val="5.0925925925925923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Лист1!$O$4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73-4C29-A6E6-7955694F35F3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8E73-4C29-A6E6-7955694F35F3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Лист1!$O$5</c:f>
              <c:numCache>
                <c:formatCode>General</c:formatCode>
                <c:ptCount val="1"/>
                <c:pt idx="0">
                  <c:v>62.5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E73-4C29-A6E6-7955694F3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081714785651792"/>
          <c:y val="5.0925925925925923E-2"/>
          <c:w val="0.59757617150128306"/>
          <c:h val="0.82775444736074655"/>
        </c:manualLayout>
      </c:layout>
      <c:barChart>
        <c:barDir val="col"/>
        <c:grouping val="clustered"/>
        <c:varyColors val="0"/>
        <c:ser>
          <c:idx val="0"/>
          <c:order val="0"/>
          <c:tx>
            <c:v>1-ый вариант характеристики.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диф.харка.!$O$4</c:f>
              <c:numCache>
                <c:formatCode>General</c:formatCode>
                <c:ptCount val="1"/>
                <c:pt idx="0">
                  <c:v>1934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F7-40B6-B759-B82B18F18280}"/>
            </c:ext>
          </c:extLst>
        </c:ser>
        <c:ser>
          <c:idx val="1"/>
          <c:order val="1"/>
          <c:tx>
            <c:v>2-ый вариант характеристики.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диф.харка.!$O$5</c:f>
              <c:numCache>
                <c:formatCode>General</c:formatCode>
                <c:ptCount val="1"/>
                <c:pt idx="0">
                  <c:v>2042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F7-40B6-B759-B82B18F18280}"/>
            </c:ext>
          </c:extLst>
        </c:ser>
        <c:ser>
          <c:idx val="2"/>
          <c:order val="2"/>
          <c:tx>
            <c:v>3-ый вариант характеристики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диф.харка.!$O$6</c:f>
              <c:numCache>
                <c:formatCode>General</c:formatCode>
                <c:ptCount val="1"/>
                <c:pt idx="0">
                  <c:v>1895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F7-40B6-B759-B82B18F18280}"/>
            </c:ext>
          </c:extLst>
        </c:ser>
        <c:ser>
          <c:idx val="3"/>
          <c:order val="3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3-F5F7-40B6-B759-B82B18F18280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диф.харка.!$O$7</c:f>
              <c:numCache>
                <c:formatCode>General</c:formatCode>
                <c:ptCount val="1"/>
                <c:pt idx="0">
                  <c:v>2138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F7-40B6-B759-B82B18F18280}"/>
            </c:ext>
          </c:extLst>
        </c:ser>
        <c:ser>
          <c:idx val="5"/>
          <c:order val="5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диф.харка.!$O$8</c:f>
              <c:numCache>
                <c:formatCode>General</c:formatCode>
                <c:ptCount val="1"/>
                <c:pt idx="0">
                  <c:v>2229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F7-40B6-B759-B82B18F18280}"/>
            </c:ext>
          </c:extLst>
        </c:ser>
        <c:ser>
          <c:idx val="6"/>
          <c:order val="6"/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диф.харка.!$O$9</c:f>
              <c:numCache>
                <c:formatCode>General</c:formatCode>
                <c:ptCount val="1"/>
                <c:pt idx="0">
                  <c:v>2101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F7-40B6-B759-B82B18F18280}"/>
            </c:ext>
          </c:extLst>
        </c:ser>
        <c:ser>
          <c:idx val="7"/>
          <c:order val="7"/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7-F5F7-40B6-B759-B82B18F18280}"/>
            </c:ext>
          </c:extLst>
        </c:ser>
        <c:ser>
          <c:idx val="8"/>
          <c:order val="8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диф.харка.!$O$10</c:f>
              <c:numCache>
                <c:formatCode>General</c:formatCode>
                <c:ptCount val="1"/>
                <c:pt idx="0">
                  <c:v>2252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F7-40B6-B759-B82B18F18280}"/>
            </c:ext>
          </c:extLst>
        </c:ser>
        <c:ser>
          <c:idx val="9"/>
          <c:order val="9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диф.харка.!$O$11</c:f>
              <c:numCache>
                <c:formatCode>General</c:formatCode>
                <c:ptCount val="1"/>
                <c:pt idx="0">
                  <c:v>2317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5F7-40B6-B759-B82B18F18280}"/>
            </c:ext>
          </c:extLst>
        </c:ser>
        <c:ser>
          <c:idx val="10"/>
          <c:order val="10"/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диф.харка.!$O$12</c:f>
              <c:numCache>
                <c:formatCode>General</c:formatCode>
                <c:ptCount val="1"/>
                <c:pt idx="0">
                  <c:v>2216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5F7-40B6-B759-B82B18F182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1346608"/>
        <c:axId val="451343328"/>
      </c:barChart>
      <c:catAx>
        <c:axId val="451346608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 smtClean="0"/>
                  <a:t>100       </a:t>
                </a:r>
                <a:r>
                  <a:rPr lang="ru-RU" dirty="0"/>
                  <a:t>	</a:t>
                </a:r>
                <a:r>
                  <a:rPr lang="ru-RU" dirty="0" smtClean="0"/>
                  <a:t>         150</a:t>
                </a:r>
                <a:r>
                  <a:rPr lang="ru-RU" baseline="0" dirty="0" smtClean="0"/>
                  <a:t>                                  </a:t>
                </a:r>
                <a:r>
                  <a:rPr lang="ru-RU" dirty="0" smtClean="0"/>
                  <a:t>200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0.2501171955903882"/>
              <c:y val="0.9056791379462164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majorTickMark val="none"/>
        <c:minorTickMark val="none"/>
        <c:tickLblPos val="nextTo"/>
        <c:crossAx val="451343328"/>
        <c:crosses val="autoZero"/>
        <c:auto val="1"/>
        <c:lblAlgn val="ctr"/>
        <c:lblOffset val="100"/>
        <c:noMultiLvlLbl val="0"/>
      </c:catAx>
      <c:valAx>
        <c:axId val="451343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NOx, </a:t>
                </a:r>
                <a:r>
                  <a:rPr lang="ru-RU"/>
                  <a:t>млн-1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1346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legendEntry>
        <c:idx val="7"/>
        <c:delete val="1"/>
      </c:legendEntry>
      <c:legendEntry>
        <c:idx val="8"/>
        <c:delete val="1"/>
      </c:legendEntry>
      <c:legendEntry>
        <c:idx val="9"/>
        <c:delete val="1"/>
      </c:legendEntry>
      <c:legendEntry>
        <c:idx val="10"/>
        <c:delete val="1"/>
      </c:legendEntry>
      <c:layout>
        <c:manualLayout>
          <c:xMode val="edge"/>
          <c:yMode val="edge"/>
          <c:x val="0.71423973494565718"/>
          <c:y val="0.27315180447755499"/>
          <c:w val="0.28278471206254424"/>
          <c:h val="0.376095468953943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90718939521035"/>
          <c:y val="3.7164709995636862E-2"/>
          <c:w val="0.61876367685090705"/>
          <c:h val="0.85877818422303509"/>
        </c:manualLayout>
      </c:layout>
      <c:barChart>
        <c:barDir val="col"/>
        <c:grouping val="clustered"/>
        <c:varyColors val="0"/>
        <c:ser>
          <c:idx val="0"/>
          <c:order val="0"/>
          <c:tx>
            <c:v>1-ый вариант характеристики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характеристики'!$P$22</c:f>
              <c:numCache>
                <c:formatCode>General</c:formatCode>
                <c:ptCount val="1"/>
                <c:pt idx="0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4B-40A5-9A95-E7D0CCE32E80}"/>
            </c:ext>
          </c:extLst>
        </c:ser>
        <c:ser>
          <c:idx val="1"/>
          <c:order val="1"/>
          <c:tx>
            <c:v>2-ый вариант характеристики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характеристики'!$P$23</c:f>
              <c:numCache>
                <c:formatCode>General</c:formatCode>
                <c:ptCount val="1"/>
                <c:pt idx="0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4B-40A5-9A95-E7D0CCE32E80}"/>
            </c:ext>
          </c:extLst>
        </c:ser>
        <c:ser>
          <c:idx val="2"/>
          <c:order val="2"/>
          <c:tx>
            <c:v>3-ый вариант характеристики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характеристики'!$P$24</c:f>
              <c:numCache>
                <c:formatCode>General</c:formatCode>
                <c:ptCount val="1"/>
                <c:pt idx="0">
                  <c:v>0.315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4B-40A5-9A95-E7D0CCE32E80}"/>
            </c:ext>
          </c:extLst>
        </c:ser>
        <c:ser>
          <c:idx val="3"/>
          <c:order val="3"/>
          <c:tx>
            <c:v>пропуск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3-854B-40A5-9A95-E7D0CCE32E80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характеристики'!$P$25</c:f>
              <c:numCache>
                <c:formatCode>General</c:formatCode>
                <c:ptCount val="1"/>
                <c:pt idx="0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4B-40A5-9A95-E7D0CCE32E80}"/>
            </c:ext>
          </c:extLst>
        </c:ser>
        <c:ser>
          <c:idx val="5"/>
          <c:order val="5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характеристики'!$P$26</c:f>
              <c:numCache>
                <c:formatCode>General</c:formatCode>
                <c:ptCount val="1"/>
                <c:pt idx="0">
                  <c:v>0.28699999999999998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4B-40A5-9A95-E7D0CCE32E80}"/>
            </c:ext>
          </c:extLst>
        </c:ser>
        <c:ser>
          <c:idx val="6"/>
          <c:order val="6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характеристики'!$P$27</c:f>
              <c:numCache>
                <c:formatCode>General</c:formatCode>
                <c:ptCount val="1"/>
                <c:pt idx="0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54B-40A5-9A95-E7D0CCE32E80}"/>
            </c:ext>
          </c:extLst>
        </c:ser>
        <c:ser>
          <c:idx val="7"/>
          <c:order val="7"/>
          <c:tx>
            <c:v>пропуск</c:v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7-854B-40A5-9A95-E7D0CCE32E80}"/>
            </c:ext>
          </c:extLst>
        </c:ser>
        <c:ser>
          <c:idx val="8"/>
          <c:order val="8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характеристики'!$P$28</c:f>
              <c:numCache>
                <c:formatCode>General</c:formatCode>
                <c:ptCount val="1"/>
                <c:pt idx="0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4B-40A5-9A95-E7D0CCE32E80}"/>
            </c:ext>
          </c:extLst>
        </c:ser>
        <c:ser>
          <c:idx val="9"/>
          <c:order val="9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характеристики'!$P$29</c:f>
              <c:numCache>
                <c:formatCode>General</c:formatCode>
                <c:ptCount val="1"/>
                <c:pt idx="0">
                  <c:v>0.27900000000000003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54B-40A5-9A95-E7D0CCE32E80}"/>
            </c:ext>
          </c:extLst>
        </c:ser>
        <c:ser>
          <c:idx val="10"/>
          <c:order val="1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'новые характеристики'!$P$30</c:f>
              <c:numCache>
                <c:formatCode>General</c:formatCode>
                <c:ptCount val="1"/>
                <c:pt idx="0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54B-40A5-9A95-E7D0CCE32E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8784312"/>
        <c:axId val="438779064"/>
      </c:barChart>
      <c:catAx>
        <c:axId val="438784312"/>
        <c:scaling>
          <c:orientation val="minMax"/>
        </c:scaling>
        <c:delete val="1"/>
        <c:axPos val="b"/>
        <c:majorTickMark val="none"/>
        <c:minorTickMark val="none"/>
        <c:tickLblPos val="nextTo"/>
        <c:crossAx val="438779064"/>
        <c:crosses val="autoZero"/>
        <c:auto val="1"/>
        <c:lblAlgn val="ctr"/>
        <c:lblOffset val="100"/>
        <c:noMultiLvlLbl val="0"/>
      </c:catAx>
      <c:valAx>
        <c:axId val="438779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PM, </a:t>
                </a:r>
                <a:r>
                  <a:rPr lang="ru-RU"/>
                  <a:t>г/кВТ*Ч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8784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legendEntry>
        <c:idx val="7"/>
        <c:delete val="1"/>
      </c:legendEntry>
      <c:legendEntry>
        <c:idx val="8"/>
        <c:delete val="1"/>
      </c:legendEntry>
      <c:legendEntry>
        <c:idx val="9"/>
        <c:delete val="1"/>
      </c:legendEntry>
      <c:legendEntry>
        <c:idx val="10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0"/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0.88167</cdr:x>
      <cdr:y>0.88202</cdr:y>
    </cdr:from>
    <cdr:to>
      <cdr:x>1</cdr:x>
      <cdr:y>0.98279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030980" y="2419552"/>
          <a:ext cx="541020" cy="276444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0.88029</cdr:x>
      <cdr:y>0.89777</cdr:y>
    </cdr:from>
    <cdr:to>
      <cdr:x>0.98788</cdr:x>
      <cdr:y>1</cdr:y>
    </cdr:to>
    <cdr:pic>
      <cdr:nvPicPr>
        <cdr:cNvPr id="6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5367822" y="2485609"/>
          <a:ext cx="656060" cy="283039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0.18663</cdr:x>
      <cdr:y>0.90516</cdr:y>
    </cdr:from>
    <cdr:to>
      <cdr:x>0.37264</cdr:x>
      <cdr:y>0.99738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163320" y="2627889"/>
          <a:ext cx="1159405" cy="2677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100" dirty="0" smtClean="0"/>
            <a:t>100</a:t>
          </a:r>
          <a:endParaRPr lang="ru-RU" sz="1100" dirty="0"/>
        </a:p>
      </cdr:txBody>
    </cdr:sp>
  </cdr:relSizeAnchor>
  <cdr:relSizeAnchor xmlns:cdr="http://schemas.openxmlformats.org/drawingml/2006/chartDrawing">
    <cdr:from>
      <cdr:x>0.38101</cdr:x>
      <cdr:y>0.90779</cdr:y>
    </cdr:from>
    <cdr:to>
      <cdr:x>0.56702</cdr:x>
      <cdr:y>1</cdr:y>
    </cdr:to>
    <cdr:sp macro="" textlink="">
      <cdr:nvSpPr>
        <cdr:cNvPr id="5" name="TextBox 1"/>
        <cdr:cNvSpPr txBox="1"/>
      </cdr:nvSpPr>
      <cdr:spPr>
        <a:xfrm xmlns:a="http://schemas.openxmlformats.org/drawingml/2006/main">
          <a:off x="2374900" y="2635509"/>
          <a:ext cx="1159405" cy="2677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100" dirty="0" smtClean="0"/>
            <a:t>150</a:t>
          </a:r>
          <a:endParaRPr lang="ru-RU" sz="1100" dirty="0"/>
        </a:p>
      </cdr:txBody>
    </cdr:sp>
  </cdr:relSizeAnchor>
  <cdr:relSizeAnchor xmlns:cdr="http://schemas.openxmlformats.org/drawingml/2006/chartDrawing">
    <cdr:from>
      <cdr:x>0.58028</cdr:x>
      <cdr:y>0.90201</cdr:y>
    </cdr:from>
    <cdr:to>
      <cdr:x>0.76628</cdr:x>
      <cdr:y>0.99422</cdr:y>
    </cdr:to>
    <cdr:sp macro="" textlink="">
      <cdr:nvSpPr>
        <cdr:cNvPr id="7" name="TextBox 1"/>
        <cdr:cNvSpPr txBox="1"/>
      </cdr:nvSpPr>
      <cdr:spPr>
        <a:xfrm xmlns:a="http://schemas.openxmlformats.org/drawingml/2006/main">
          <a:off x="3616960" y="2618740"/>
          <a:ext cx="1159405" cy="2677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100" dirty="0" smtClean="0"/>
            <a:t>200</a:t>
          </a:r>
          <a:endParaRPr lang="ru-RU" sz="11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84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94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33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51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25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8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70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057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29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31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6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42497-F292-4C8F-AAC6-C26281E2060F}" type="datetimeFigureOut">
              <a:rPr lang="ru-RU" smtClean="0"/>
              <a:t>13.05.2022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AB9FF-2291-4343-9238-FDF536782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65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23081" y="404664"/>
            <a:ext cx="9031254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Московский автомобильно-дорожный государственный технический университет (МАДИ)</a:t>
            </a:r>
          </a:p>
        </p:txBody>
      </p:sp>
      <p:pic>
        <p:nvPicPr>
          <p:cNvPr id="5" name="Рисунок 5" descr="C:\Users\toshiba\Desktop\учебная хрень\00139_00040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6228" y="404664"/>
            <a:ext cx="1344613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1239892" y="1350285"/>
            <a:ext cx="48241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ru-RU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Энерго</a:t>
            </a:r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-экологический факультет</a:t>
            </a:r>
          </a:p>
          <a:p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  “Теплотехника и автотракторные двигатели”</a:t>
            </a:r>
          </a:p>
          <a:p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подготовки   “Энергетическое машиностроение”</a:t>
            </a:r>
          </a:p>
          <a:p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подготовки   “Двигатели внутреннего сгорания”</a:t>
            </a: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1919537" y="2420309"/>
            <a:ext cx="828898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/>
            <a:r>
              <a:rPr lang="ru-RU" sz="1600" b="1" dirty="0">
                <a:solidFill>
                  <a:prstClr val="black"/>
                </a:solidFill>
              </a:rPr>
              <a:t>ИЛЛЮСТРАТИВНЫЙ  МАТЕРИАЛ</a:t>
            </a:r>
          </a:p>
          <a:p>
            <a:pPr algn="ctr"/>
            <a:r>
              <a:rPr lang="ru-RU" sz="1600" b="1" dirty="0">
                <a:solidFill>
                  <a:prstClr val="black"/>
                </a:solidFill>
              </a:rPr>
              <a:t>к квалификационной работе бакалавра</a:t>
            </a:r>
            <a:endParaRPr lang="ru-RU" sz="1600" dirty="0">
              <a:solidFill>
                <a:prstClr val="black"/>
              </a:solidFill>
            </a:endParaRPr>
          </a:p>
          <a:p>
            <a:r>
              <a:rPr lang="ru-RU" sz="1600" dirty="0">
                <a:solidFill>
                  <a:prstClr val="black"/>
                </a:solidFill>
              </a:rPr>
              <a:t> </a:t>
            </a:r>
          </a:p>
          <a:p>
            <a:pPr algn="ctr"/>
            <a:r>
              <a:rPr lang="ru-RU" sz="1600" dirty="0">
                <a:solidFill>
                  <a:prstClr val="black"/>
                </a:solidFill>
              </a:rPr>
              <a:t>на тему: </a:t>
            </a:r>
            <a:r>
              <a:rPr lang="ru-RU" altLang="ru-RU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алгоритма управления ТНВД аккумуляторной топливной системы дизеля с помощью модельно-базированного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программирования</a:t>
            </a:r>
            <a:r>
              <a:rPr lang="ru-RU" altLang="ru-RU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endParaRPr lang="ru-RU" altLang="ru-RU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4918076" y="6154739"/>
            <a:ext cx="20161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МОСКВА </a:t>
            </a:r>
            <a:r>
              <a:rPr lang="ru-RU" altLang="ru-RU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2022</a:t>
            </a:r>
            <a:endParaRPr lang="ru-RU" altLang="ru-RU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3971" y="3743748"/>
            <a:ext cx="624320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                                    Разработал студент 	___________ </a:t>
            </a:r>
            <a:r>
              <a:rPr lang="ru-RU" sz="1400" b="1" dirty="0" smtClean="0">
                <a:solidFill>
                  <a:prstClr val="black"/>
                </a:solidFill>
              </a:rPr>
              <a:t>Королёв П.А.</a:t>
            </a:r>
            <a:endParaRPr lang="ru-RU" sz="1400" b="1" dirty="0">
              <a:solidFill>
                <a:prstClr val="black"/>
              </a:solidFill>
            </a:endParaRPr>
          </a:p>
          <a:p>
            <a:pPr algn="just"/>
            <a:r>
              <a:rPr lang="ru-RU" sz="1400" i="1" dirty="0">
                <a:solidFill>
                  <a:prstClr val="black"/>
                </a:solidFill>
              </a:rPr>
              <a:t>      				   подпись</a:t>
            </a:r>
            <a:endParaRPr lang="ru-RU" sz="1400" dirty="0">
              <a:solidFill>
                <a:prstClr val="black"/>
              </a:solidFill>
            </a:endParaRP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                                 Главный консультант  	___________ </a:t>
            </a:r>
            <a:r>
              <a:rPr lang="ru-RU" sz="1400" b="1" dirty="0" err="1">
                <a:solidFill>
                  <a:prstClr val="black"/>
                </a:solidFill>
              </a:rPr>
              <a:t>Душкин</a:t>
            </a:r>
            <a:r>
              <a:rPr lang="ru-RU" sz="1400" b="1" dirty="0">
                <a:solidFill>
                  <a:prstClr val="black"/>
                </a:solidFill>
              </a:rPr>
              <a:t> П.В.</a:t>
            </a:r>
          </a:p>
          <a:p>
            <a:pPr algn="just"/>
            <a:r>
              <a:rPr lang="ru-RU" sz="1400" i="1" dirty="0">
                <a:solidFill>
                  <a:prstClr val="black"/>
                </a:solidFill>
              </a:rPr>
              <a:t>                                                                                                  подпись</a:t>
            </a:r>
            <a:endParaRPr lang="ru-RU" sz="1400" dirty="0">
              <a:solidFill>
                <a:prstClr val="black"/>
              </a:solidFill>
            </a:endParaRP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Консультант по конструкторской части     ___________ Сафронов П. В.</a:t>
            </a:r>
          </a:p>
          <a:p>
            <a:pPr algn="just"/>
            <a:r>
              <a:rPr lang="ru-RU" sz="1400" i="1" dirty="0">
                <a:solidFill>
                  <a:prstClr val="black"/>
                </a:solidFill>
              </a:rPr>
              <a:t>                                                                                                 подпись</a:t>
            </a:r>
            <a:endParaRPr lang="ru-RU" sz="1400" dirty="0">
              <a:solidFill>
                <a:prstClr val="black"/>
              </a:solidFill>
            </a:endParaRP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  Консультант по экономической части ___________ Дороднова Г. М.</a:t>
            </a:r>
          </a:p>
          <a:p>
            <a:pPr algn="just"/>
            <a:r>
              <a:rPr lang="ru-RU" sz="1400" i="1" dirty="0">
                <a:solidFill>
                  <a:prstClr val="black"/>
                </a:solidFill>
              </a:rPr>
              <a:t>                                                                                                 подпись</a:t>
            </a:r>
            <a:endParaRPr lang="ru-RU" sz="1400" dirty="0">
              <a:solidFill>
                <a:prstClr val="black"/>
              </a:solidFill>
            </a:endParaRP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Консультант по производственной</a:t>
            </a:r>
          </a:p>
          <a:p>
            <a:pPr algn="just"/>
            <a:r>
              <a:rPr lang="ru-RU" sz="1400" b="1" dirty="0">
                <a:solidFill>
                  <a:prstClr val="black"/>
                </a:solidFill>
              </a:rPr>
              <a:t>                       и экологической безопасности         ___________ Григорьева Т.Ю.</a:t>
            </a:r>
          </a:p>
          <a:p>
            <a:r>
              <a:rPr lang="ru-RU" sz="1400" i="1" dirty="0">
                <a:solidFill>
                  <a:prstClr val="black"/>
                </a:solidFill>
              </a:rPr>
              <a:t>                                                                                                 подпись</a:t>
            </a:r>
            <a:endParaRPr lang="ru-RU" sz="1400" dirty="0">
              <a:solidFill>
                <a:prstClr val="black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77421" y="115889"/>
            <a:ext cx="1180531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81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7061" y="486091"/>
            <a:ext cx="1189841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совершенствование рабочего процесса топливной системы типа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Rail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повышением точности управления давлением в гидравлическом аккумуляторе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</a:t>
            </a:r>
            <a:r>
              <a:rPr lang="ru-RU" sz="2400" dirty="0" smtClean="0"/>
              <a:t>проектировать 4-х </a:t>
            </a:r>
            <a:r>
              <a:rPr lang="ru-RU" sz="2400" dirty="0"/>
              <a:t>цилиндровый рядный дизельный двигатель с номинальной мощностью, </a:t>
            </a:r>
            <a:r>
              <a:rPr lang="ru-RU" sz="2400" i="1" dirty="0" err="1"/>
              <a:t>N</a:t>
            </a:r>
            <a:r>
              <a:rPr lang="ru-RU" sz="2400" baseline="-25000" dirty="0" err="1"/>
              <a:t>e</a:t>
            </a:r>
            <a:r>
              <a:rPr lang="ru-RU" sz="2400" dirty="0"/>
              <a:t>=40 кВт, номинальной частотой </a:t>
            </a:r>
            <a:r>
              <a:rPr lang="ru-RU" sz="2400" dirty="0" smtClean="0"/>
              <a:t>вращения </a:t>
            </a:r>
            <a:r>
              <a:rPr lang="ru-RU" sz="2400" dirty="0"/>
              <a:t>n=1700 мин</a:t>
            </a:r>
            <a:r>
              <a:rPr lang="ru-RU" sz="2400" baseline="30000" dirty="0"/>
              <a:t>-1</a:t>
            </a:r>
            <a:r>
              <a:rPr lang="ru-RU" sz="2400" dirty="0"/>
              <a:t>, степенью </a:t>
            </a:r>
            <a:r>
              <a:rPr lang="ru-RU" sz="2400" dirty="0" smtClean="0"/>
              <a:t>сжатия </a:t>
            </a:r>
            <a:r>
              <a:rPr lang="ru-RU" sz="2400" dirty="0"/>
              <a:t>ε=16, коэффициентом избытка воздуха, </a:t>
            </a:r>
            <a:r>
              <a:rPr lang="ru-RU" sz="2400" dirty="0" smtClean="0"/>
              <a:t>α=1.4</a:t>
            </a:r>
            <a:r>
              <a:rPr lang="ru-RU" sz="2400" dirty="0"/>
              <a:t>, </a:t>
            </a:r>
            <a:r>
              <a:rPr lang="ru-RU" sz="2400" dirty="0" smtClean="0"/>
              <a:t>числом </a:t>
            </a:r>
            <a:r>
              <a:rPr lang="ru-RU" sz="2400" dirty="0"/>
              <a:t>клапанов на цилиндр = </a:t>
            </a:r>
            <a:r>
              <a:rPr lang="ru-RU" sz="2400" dirty="0" smtClean="0"/>
              <a:t>4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r>
              <a:rPr lang="ru-RU" sz="2400" dirty="0" smtClean="0"/>
              <a:t> 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ТНВД на основе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ПИД-регулятора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системе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модельно базированного программирования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математическую модель аккумулятора топливной системы для отладки разработанного алгоритма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отладку и первичную калибровку разработанного ПИД-регулятора;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проекта алгоритма управления ТС,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основанного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её физической модели.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1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03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61" y="2427954"/>
            <a:ext cx="3623874" cy="1502582"/>
          </a:xfrm>
          <a:prstGeom prst="rect">
            <a:avLst/>
          </a:prstGeom>
        </p:spPr>
      </p:pic>
      <p:pic>
        <p:nvPicPr>
          <p:cNvPr id="1026" name="Picture 2" descr="https://sun9-32.userapi.com/s/v1/if2/dRP8oMnLT0S3os1ZBS61CSwSm96iAO7-28q4AKIVLVCo9tS42tLh66B1pPjky9fLgPxYBqOaX8AFXAKL8L5Ioc3I.jpg?size=1200x1600&amp;quality=95&amp;type=album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7" t="4497" r="10893" b="6182"/>
          <a:stretch/>
        </p:blipFill>
        <p:spPr bwMode="auto">
          <a:xfrm>
            <a:off x="5284364" y="1088411"/>
            <a:ext cx="2484583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un9-13.userapi.com/s/v1/if2/JrEPbQbZXWf3sp-GIvGtL2HwZGbAHVF0O7g_UO0XJk5dO_-kqiB1rlsmdiP4sXVnNqk4dQQdkVooAtVF6N1txwC9.jpg?size=1600x1200&amp;quality=95&amp;type=albu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2" y="1709067"/>
            <a:ext cx="4419867" cy="331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2</a:t>
            </a:r>
            <a:endParaRPr lang="ru-RU" altLang="en-US" sz="135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605869" y="5578287"/>
            <a:ext cx="3473356" cy="4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7661" algn="ctr">
              <a:lnSpc>
                <a:spcPct val="107000"/>
              </a:lnSpc>
              <a:tabLst>
                <a:tab pos="405289" algn="l"/>
              </a:tabLst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Система управления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85297" y="5520405"/>
            <a:ext cx="38449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7661" algn="ctr">
              <a:tabLst>
                <a:tab pos="405289" algn="l"/>
              </a:tabLst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Исследовательский </a:t>
            </a:r>
            <a:r>
              <a:rPr lang="ru-RU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стенд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82626" y="5408689"/>
            <a:ext cx="38387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 алгоритмов 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883734" y="338685"/>
            <a:ext cx="8142515" cy="3238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7000"/>
              </a:lnSpc>
            </a:pPr>
            <a:r>
              <a:rPr lang="ru-RU" sz="2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Комплекс для исследования топливных систем</a:t>
            </a:r>
            <a:endParaRPr lang="ru-RU" altLang="en-US" sz="2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56209" y="1963016"/>
            <a:ext cx="28246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ASCET</a:t>
            </a:r>
            <a:r>
              <a:rPr lang="en-US" sz="2200" dirty="0" smtClean="0"/>
              <a:t> (</a:t>
            </a: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Bosch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ETAS</a:t>
            </a:r>
            <a:r>
              <a:rPr lang="en-US" sz="2200" dirty="0" smtClean="0"/>
              <a:t>)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16145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1033"/>
          <a:stretch/>
        </p:blipFill>
        <p:spPr>
          <a:xfrm>
            <a:off x="1889463" y="637309"/>
            <a:ext cx="8265485" cy="6152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6616" y="163138"/>
            <a:ext cx="3611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Simulink </a:t>
            </a:r>
            <a:r>
              <a:rPr lang="ru-RU" sz="2800" b="1" dirty="0" smtClean="0"/>
              <a:t>модель </a:t>
            </a:r>
            <a:endParaRPr lang="ru-RU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983345" y="1220655"/>
            <a:ext cx="2073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Диспетчер модели</a:t>
            </a:r>
            <a:endParaRPr lang="ru-RU" b="1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74255" y="3094059"/>
            <a:ext cx="20504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2724728" y="3094059"/>
            <a:ext cx="258617" cy="731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9665855" y="2064205"/>
            <a:ext cx="1482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832175" y="1676401"/>
            <a:ext cx="126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Модель ТС</a:t>
            </a:r>
            <a:endParaRPr lang="ru-RU" b="1" dirty="0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 flipH="1">
            <a:off x="8940800" y="2069479"/>
            <a:ext cx="734324" cy="655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5223" y="2724726"/>
            <a:ext cx="1981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Управление ТНВД</a:t>
            </a:r>
            <a:endParaRPr lang="ru-RU" b="1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 flipV="1">
            <a:off x="2983345" y="1510106"/>
            <a:ext cx="2100646" cy="19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5083991" y="1516752"/>
            <a:ext cx="604350" cy="168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3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07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48726" y="397224"/>
            <a:ext cx="3197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ПИД-регулятор(</a:t>
            </a:r>
            <a:r>
              <a:rPr lang="en-US" sz="2400" b="1" dirty="0" smtClean="0"/>
              <a:t>ASCET)</a:t>
            </a:r>
            <a:endParaRPr lang="ru-RU" sz="24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979054"/>
            <a:ext cx="10153650" cy="5634182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4</a:t>
            </a:r>
            <a:endParaRPr lang="ru-RU" altLang="en-US" sz="135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46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1718500" y="1093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5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798619" y="152074"/>
            <a:ext cx="6871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Процесс калибровки и первичной отладки ПИД- регулятора</a:t>
            </a:r>
            <a:endParaRPr lang="ru-RU" sz="2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75729" y="3044563"/>
            <a:ext cx="4688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П=0,5 </a:t>
            </a:r>
            <a:r>
              <a:rPr lang="ru-RU" sz="1400" dirty="0" smtClean="0"/>
              <a:t>И=0,1 </a:t>
            </a:r>
            <a:r>
              <a:rPr lang="ru-RU" sz="1400" dirty="0"/>
              <a:t>Д=-</a:t>
            </a:r>
            <a:r>
              <a:rPr lang="ru-RU" sz="1400" dirty="0" smtClean="0"/>
              <a:t>0,01 долгий выход на режим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5729" y="6224456"/>
            <a:ext cx="4609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П=0,05 </a:t>
            </a:r>
            <a:r>
              <a:rPr lang="ru-RU" sz="1400" dirty="0"/>
              <a:t>И=0,05 Д=-0,01 время выхода на </a:t>
            </a:r>
            <a:endParaRPr lang="ru-RU" sz="1400" dirty="0" smtClean="0"/>
          </a:p>
          <a:p>
            <a:r>
              <a:rPr lang="ru-RU" sz="1400" dirty="0" smtClean="0"/>
              <a:t>1250 </a:t>
            </a:r>
            <a:r>
              <a:rPr lang="ru-RU" sz="1400" dirty="0"/>
              <a:t>бар (</a:t>
            </a:r>
            <a:r>
              <a:rPr lang="ru-RU" sz="1400" dirty="0" err="1"/>
              <a:t>уставка</a:t>
            </a:r>
            <a:r>
              <a:rPr lang="ru-RU" sz="1400" dirty="0"/>
              <a:t>) = 1,79с, перерегулирование = 1545 бар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1005" y="3080280"/>
            <a:ext cx="4558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П=0,02 И=0,05 Д=-0,01 время выхода </a:t>
            </a:r>
            <a:r>
              <a:rPr lang="ru-RU" sz="1400" dirty="0" smtClean="0"/>
              <a:t>на</a:t>
            </a:r>
          </a:p>
          <a:p>
            <a:r>
              <a:rPr lang="ru-RU" sz="1400" dirty="0" smtClean="0"/>
              <a:t>1250 </a:t>
            </a:r>
            <a:r>
              <a:rPr lang="ru-RU" sz="1400" dirty="0"/>
              <a:t>бар (</a:t>
            </a:r>
            <a:r>
              <a:rPr lang="ru-RU" sz="1400" dirty="0" err="1"/>
              <a:t>уставка</a:t>
            </a:r>
            <a:r>
              <a:rPr lang="ru-RU" sz="1400" dirty="0"/>
              <a:t>) = 2,1с, перерегулирование = 1730 бар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0255" y="6311857"/>
            <a:ext cx="4431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П=0,01 И=0,05 Д=-0,001 </a:t>
            </a:r>
            <a:r>
              <a:rPr lang="ru-RU" sz="1400" dirty="0" smtClean="0"/>
              <a:t>–Регулятор не вышел на режим</a:t>
            </a:r>
            <a:endParaRPr lang="ru-RU" sz="1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9" y="588369"/>
            <a:ext cx="4577082" cy="237308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9" y="3679220"/>
            <a:ext cx="4577082" cy="243379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999" y="588368"/>
            <a:ext cx="4634789" cy="2500959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998" y="3679220"/>
            <a:ext cx="4634789" cy="254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9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/>
          <p:cNvSpPr/>
          <p:nvPr/>
        </p:nvSpPr>
        <p:spPr>
          <a:xfrm>
            <a:off x="1629176" y="3822191"/>
            <a:ext cx="1156129" cy="77653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718924" y="115889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6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5889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43933" y="109344"/>
            <a:ext cx="11580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комбинированного регулятора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772200" y="3960046"/>
                <a:ext cx="871071" cy="5493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ак</m:t>
                          </m:r>
                        </m:sub>
                        <m:sup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уст</m:t>
                          </m:r>
                        </m:sup>
                      </m:sSub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200" y="3960046"/>
                <a:ext cx="871071" cy="5493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Скругленный прямоугольник 15"/>
          <p:cNvSpPr/>
          <p:nvPr/>
        </p:nvSpPr>
        <p:spPr>
          <a:xfrm>
            <a:off x="4300407" y="1533497"/>
            <a:ext cx="3466012" cy="408432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4679229" y="3855718"/>
            <a:ext cx="2708367" cy="1471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ПИД-регулятор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(реализовано)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0" name="Прямая соединительная линия 19"/>
          <p:cNvCxnSpPr>
            <a:stCxn id="18" idx="3"/>
          </p:cNvCxnSpPr>
          <p:nvPr/>
        </p:nvCxnSpPr>
        <p:spPr>
          <a:xfrm>
            <a:off x="7387596" y="4591593"/>
            <a:ext cx="953589" cy="7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8341185" y="2517193"/>
            <a:ext cx="0" cy="208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8341185" y="3451479"/>
            <a:ext cx="421944" cy="6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Скругленный прямоугольник 24"/>
          <p:cNvSpPr/>
          <p:nvPr/>
        </p:nvSpPr>
        <p:spPr>
          <a:xfrm>
            <a:off x="8763129" y="2721644"/>
            <a:ext cx="2708367" cy="1471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 управления:</a:t>
            </a:r>
          </a:p>
          <a:p>
            <a:pPr algn="ctr"/>
            <a:endParaRPr lang="ru-RU" dirty="0" smtClean="0">
              <a:solidFill>
                <a:schemeClr val="tx1"/>
              </a:solidFill>
            </a:endParaRPr>
          </a:p>
          <a:p>
            <a:pPr algn="ctr"/>
            <a:r>
              <a:rPr lang="ru-RU" b="1" dirty="0" smtClean="0">
                <a:solidFill>
                  <a:schemeClr val="tx1"/>
                </a:solidFill>
              </a:rPr>
              <a:t>ТС аккумуляторного типа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27" name="Прямая соединительная линия 26"/>
          <p:cNvCxnSpPr>
            <a:stCxn id="25" idx="3"/>
          </p:cNvCxnSpPr>
          <p:nvPr/>
        </p:nvCxnSpPr>
        <p:spPr>
          <a:xfrm flipV="1">
            <a:off x="11471496" y="3457518"/>
            <a:ext cx="35402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11813179" y="3457519"/>
            <a:ext cx="0" cy="287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3789630" y="6329540"/>
            <a:ext cx="80358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flipH="1" flipV="1">
            <a:off x="3767196" y="4760026"/>
            <a:ext cx="22434" cy="1569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Овал 30"/>
          <p:cNvSpPr/>
          <p:nvPr/>
        </p:nvSpPr>
        <p:spPr>
          <a:xfrm>
            <a:off x="3571915" y="4403364"/>
            <a:ext cx="400595" cy="3764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648967" y="4390694"/>
            <a:ext cx="236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endParaRPr lang="ru-RU" dirty="0"/>
          </a:p>
        </p:txBody>
      </p:sp>
      <p:cxnSp>
        <p:nvCxnSpPr>
          <p:cNvPr id="33" name="Прямая соединительная линия 32"/>
          <p:cNvCxnSpPr>
            <a:stCxn id="31" idx="6"/>
            <a:endCxn id="18" idx="1"/>
          </p:cNvCxnSpPr>
          <p:nvPr/>
        </p:nvCxnSpPr>
        <p:spPr>
          <a:xfrm flipV="1">
            <a:off x="3972510" y="4591593"/>
            <a:ext cx="70671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31" idx="2"/>
          </p:cNvCxnSpPr>
          <p:nvPr/>
        </p:nvCxnSpPr>
        <p:spPr>
          <a:xfrm flipH="1" flipV="1">
            <a:off x="3334865" y="4591593"/>
            <a:ext cx="23705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>
            <a:stCxn id="26" idx="3"/>
          </p:cNvCxnSpPr>
          <p:nvPr/>
        </p:nvCxnSpPr>
        <p:spPr>
          <a:xfrm>
            <a:off x="2785305" y="4210456"/>
            <a:ext cx="582551" cy="1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 flipH="1">
            <a:off x="3351360" y="3237942"/>
            <a:ext cx="10411" cy="136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Прямоугольник 46"/>
              <p:cNvSpPr/>
              <p:nvPr/>
            </p:nvSpPr>
            <p:spPr>
              <a:xfrm>
                <a:off x="8341185" y="5806320"/>
                <a:ext cx="9400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ак</m:t>
                          </m:r>
                        </m:sub>
                        <m:sup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изм</m:t>
                          </m:r>
                        </m:sup>
                      </m:sSub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7" name="Прямоугольник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185" y="5806320"/>
                <a:ext cx="94000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Скругленный прямоугольник 39"/>
          <p:cNvSpPr/>
          <p:nvPr/>
        </p:nvSpPr>
        <p:spPr>
          <a:xfrm>
            <a:off x="4670518" y="1734989"/>
            <a:ext cx="2708367" cy="1911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Регулятор по модели.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На основе уравнения объемного баланса</a:t>
            </a:r>
            <a:endParaRPr lang="ru-R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4937862" y="2768711"/>
                <a:ext cx="2316275" cy="6183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862" y="2768711"/>
                <a:ext cx="2316275" cy="6183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Прямая соединительная линия 34"/>
          <p:cNvCxnSpPr/>
          <p:nvPr/>
        </p:nvCxnSpPr>
        <p:spPr>
          <a:xfrm>
            <a:off x="7378885" y="2508065"/>
            <a:ext cx="953589" cy="7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V="1">
            <a:off x="3345980" y="3237942"/>
            <a:ext cx="1333249" cy="11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Скругленный прямоугольник 40"/>
          <p:cNvSpPr/>
          <p:nvPr/>
        </p:nvSpPr>
        <p:spPr>
          <a:xfrm>
            <a:off x="1080655" y="1873047"/>
            <a:ext cx="2419926" cy="9501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Входные данные:</a:t>
            </a:r>
            <a:endParaRPr lang="ru-R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1689684" y="2313820"/>
                <a:ext cx="12371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атм</m:t>
                        </m:r>
                      </m:sub>
                    </m:sSub>
                  </m:oMath>
                </a14:m>
                <a:r>
                  <a:rPr lang="ru-RU" dirty="0" smtClean="0"/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т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684" y="2313820"/>
                <a:ext cx="1237134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единительная линия 41"/>
          <p:cNvCxnSpPr>
            <a:stCxn id="41" idx="3"/>
          </p:cNvCxnSpPr>
          <p:nvPr/>
        </p:nvCxnSpPr>
        <p:spPr>
          <a:xfrm flipV="1">
            <a:off x="3500581" y="2337009"/>
            <a:ext cx="1178648" cy="11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01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r="9283" b="15459"/>
          <a:stretch/>
        </p:blipFill>
        <p:spPr>
          <a:xfrm>
            <a:off x="860086" y="2032530"/>
            <a:ext cx="5005005" cy="3021155"/>
          </a:xfrm>
          <a:prstGeom prst="rect">
            <a:avLst/>
          </a:prstGeom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718500" y="112615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7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9160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2151490" y="170562"/>
            <a:ext cx="7889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 smtClean="0"/>
              <a:t>Оценка </a:t>
            </a:r>
            <a:r>
              <a:rPr lang="ru-RU" b="1" dirty="0"/>
              <a:t>целесообразности использования модельно </a:t>
            </a:r>
            <a:r>
              <a:rPr lang="ru-RU" b="1" dirty="0" smtClean="0"/>
              <a:t>базированного</a:t>
            </a:r>
          </a:p>
          <a:p>
            <a:pPr algn="ctr"/>
            <a:r>
              <a:rPr lang="ru-RU" b="1" dirty="0" smtClean="0"/>
              <a:t>программирования </a:t>
            </a:r>
            <a:r>
              <a:rPr lang="ru-RU" b="1" dirty="0"/>
              <a:t>для разработки алгоритмов управления системами ДВС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31142" r="34605" b="-777"/>
          <a:stretch/>
        </p:blipFill>
        <p:spPr>
          <a:xfrm>
            <a:off x="6581243" y="1684553"/>
            <a:ext cx="4552714" cy="44756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43332" y="1130555"/>
            <a:ext cx="3908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СИ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8824" y="976667"/>
            <a:ext cx="43071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Модельно базированное программирование</a:t>
            </a:r>
            <a:endParaRPr lang="ru-RU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7578756" y="6160168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1/8  программного кода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909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718500" y="112615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8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9160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/>
          </p:nvPr>
        </p:nvGraphicFramePr>
        <p:xfrm>
          <a:off x="414099" y="1271088"/>
          <a:ext cx="4578796" cy="2033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5538940"/>
              </p:ext>
            </p:extLst>
          </p:nvPr>
        </p:nvGraphicFramePr>
        <p:xfrm>
          <a:off x="6734306" y="1271088"/>
          <a:ext cx="4679932" cy="2033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Диаграмма 7"/>
          <p:cNvGraphicFramePr>
            <a:graphicFrameLocks/>
          </p:cNvGraphicFramePr>
          <p:nvPr>
            <p:extLst/>
          </p:nvPr>
        </p:nvGraphicFramePr>
        <p:xfrm>
          <a:off x="6918960" y="4612640"/>
          <a:ext cx="4286452" cy="179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89276" y="3122991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439125" y="3122991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52241" y="564192"/>
            <a:ext cx="4614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Себестоимость решения задачи </a:t>
            </a:r>
          </a:p>
          <a:p>
            <a:r>
              <a:rPr lang="ru-RU" dirty="0" smtClean="0"/>
              <a:t>традиционным и новым методами, руб./год.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203440" y="564191"/>
            <a:ext cx="412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Время на разработку нового алгоритма </a:t>
            </a:r>
          </a:p>
          <a:p>
            <a:r>
              <a:rPr lang="ru-RU" dirty="0" smtClean="0"/>
              <a:t>управления меньше на 60%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624333" y="312609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774182" y="3144755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7329308" y="4128172"/>
            <a:ext cx="387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Себестоимость товара ниже на 37.5%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9687038" y="6325278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7822210" y="634143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375788" y="3632119"/>
          <a:ext cx="5988852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284">
                  <a:extLst>
                    <a:ext uri="{9D8B030D-6E8A-4147-A177-3AD203B41FA5}">
                      <a16:colId xmlns:a16="http://schemas.microsoft.com/office/drawing/2014/main" val="1818626922"/>
                    </a:ext>
                  </a:extLst>
                </a:gridCol>
                <a:gridCol w="1996284">
                  <a:extLst>
                    <a:ext uri="{9D8B030D-6E8A-4147-A177-3AD203B41FA5}">
                      <a16:colId xmlns:a16="http://schemas.microsoft.com/office/drawing/2014/main" val="2207490214"/>
                    </a:ext>
                  </a:extLst>
                </a:gridCol>
                <a:gridCol w="1996284">
                  <a:extLst>
                    <a:ext uri="{9D8B030D-6E8A-4147-A177-3AD203B41FA5}">
                      <a16:colId xmlns:a16="http://schemas.microsoft.com/office/drawing/2014/main" val="568960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Затраты на разработку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Срок окупаемости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Годовой экономический эффект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942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2 081 473 руб.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16 месяцев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1 800 000 руб.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09393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75788" y="5331771"/>
            <a:ext cx="6810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Использование МБП позволяет сократить срок разработки </a:t>
            </a:r>
          </a:p>
          <a:p>
            <a:r>
              <a:rPr lang="ru-RU" dirty="0" smtClean="0"/>
              <a:t>алгоритма управления, а также его легче воспринимать </a:t>
            </a:r>
          </a:p>
          <a:p>
            <a:r>
              <a:rPr lang="ru-RU" dirty="0" smtClean="0"/>
              <a:t>другому специалисту при внесение корректировок или доработок.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283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687270" y="789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9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6988" y="78944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233554" y="190190"/>
            <a:ext cx="3650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Экологическая часть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947825" y="895350"/>
            <a:ext cx="3139440" cy="1698625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940205" y="2694380"/>
            <a:ext cx="3147060" cy="1831340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4"/>
          <a:stretch>
            <a:fillRect/>
          </a:stretch>
        </p:blipFill>
        <p:spPr>
          <a:xfrm>
            <a:off x="947825" y="4745494"/>
            <a:ext cx="3139440" cy="17399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417832" y="761930"/>
            <a:ext cx="6067880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ru-RU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Режим: </a:t>
            </a:r>
            <a:r>
              <a:rPr lang="ru-RU" altLang="en-US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</a:t>
            </a:r>
            <a:r>
              <a:rPr lang="en-US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00 мин</a:t>
            </a:r>
            <a:r>
              <a:rPr lang="ru-RU" altLang="en-US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ru-RU" alt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ru-RU" altLang="en-US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250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Нм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ru-RU" alt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φ</a:t>
            </a:r>
            <a:r>
              <a:rPr lang="ru-RU" altLang="en-US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о.вп</a:t>
            </a:r>
            <a:r>
              <a:rPr lang="ru-RU" alt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10° ПКВ до ВМТ</a:t>
            </a: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52996" y="1329293"/>
            <a:ext cx="761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Классический вид </a:t>
            </a:r>
            <a:r>
              <a:rPr lang="ru-RU" dirty="0" err="1"/>
              <a:t>диференциальной</a:t>
            </a:r>
            <a:r>
              <a:rPr lang="ru-RU" dirty="0"/>
              <a:t> характеристики впрыска диз. топлива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2996" y="3207390"/>
            <a:ext cx="5565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«Некорректная» характеристика впрыска диз. топлива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996" y="5430778"/>
            <a:ext cx="7411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Ступенчатая </a:t>
            </a:r>
            <a:r>
              <a:rPr lang="ru-RU" dirty="0" smtClean="0"/>
              <a:t>характеристика впрыска </a:t>
            </a:r>
            <a:r>
              <a:rPr lang="ru-RU" dirty="0"/>
              <a:t>диз. топлива (базовая в «</a:t>
            </a:r>
            <a:r>
              <a:rPr lang="en-US" dirty="0"/>
              <a:t>Diesel</a:t>
            </a:r>
            <a:r>
              <a:rPr lang="ru-RU" dirty="0"/>
              <a:t>-</a:t>
            </a:r>
            <a:r>
              <a:rPr lang="en-US" dirty="0"/>
              <a:t>RK</a:t>
            </a:r>
            <a:r>
              <a:rPr lang="ru-RU" dirty="0"/>
              <a:t>»)</a:t>
            </a:r>
          </a:p>
        </p:txBody>
      </p:sp>
    </p:spTree>
    <p:extLst>
      <p:ext uri="{BB962C8B-B14F-4D97-AF65-F5344CB8AC3E}">
        <p14:creationId xmlns:p14="http://schemas.microsoft.com/office/powerpoint/2010/main" val="222876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687270" y="78944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10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6988" y="78944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15" name="Диаграмма 14"/>
          <p:cNvGraphicFramePr/>
          <p:nvPr>
            <p:extLst>
              <p:ext uri="{D42A27DB-BD31-4B8C-83A1-F6EECF244321}">
                <p14:modId xmlns:p14="http://schemas.microsoft.com/office/powerpoint/2010/main" val="4082111468"/>
              </p:ext>
            </p:extLst>
          </p:nvPr>
        </p:nvGraphicFramePr>
        <p:xfrm>
          <a:off x="685593" y="650576"/>
          <a:ext cx="6213971" cy="2646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Диаграмма 15"/>
          <p:cNvGraphicFramePr/>
          <p:nvPr>
            <p:extLst>
              <p:ext uri="{D42A27DB-BD31-4B8C-83A1-F6EECF244321}">
                <p14:modId xmlns:p14="http://schemas.microsoft.com/office/powerpoint/2010/main" val="1995881549"/>
              </p:ext>
            </p:extLst>
          </p:nvPr>
        </p:nvGraphicFramePr>
        <p:xfrm>
          <a:off x="875682" y="3616575"/>
          <a:ext cx="6097773" cy="2768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92065" y="1234938"/>
            <a:ext cx="44952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 smtClean="0"/>
              <a:t>При </a:t>
            </a:r>
            <a:r>
              <a:rPr lang="ru-RU" dirty="0"/>
              <a:t>использовании первой </a:t>
            </a:r>
            <a:r>
              <a:rPr lang="ru-RU" dirty="0" smtClean="0"/>
              <a:t>характеристики</a:t>
            </a:r>
          </a:p>
          <a:p>
            <a:pPr algn="just"/>
            <a:r>
              <a:rPr lang="ru-RU" dirty="0" smtClean="0"/>
              <a:t>количество </a:t>
            </a:r>
            <a:r>
              <a:rPr lang="ru-RU" dirty="0"/>
              <a:t>выбросов </a:t>
            </a:r>
            <a:r>
              <a:rPr lang="ru-RU" dirty="0" smtClean="0"/>
              <a:t>твердых</a:t>
            </a:r>
          </a:p>
          <a:p>
            <a:pPr algn="just"/>
            <a:r>
              <a:rPr lang="ru-RU" dirty="0" smtClean="0"/>
              <a:t>частиц </a:t>
            </a:r>
            <a:r>
              <a:rPr lang="ru-RU" dirty="0"/>
              <a:t>снизилось на 3-6% </a:t>
            </a:r>
            <a:endParaRPr lang="ru-RU" dirty="0" smtClean="0"/>
          </a:p>
          <a:p>
            <a:pPr algn="just"/>
            <a:r>
              <a:rPr lang="ru-RU" dirty="0" smtClean="0"/>
              <a:t>на </a:t>
            </a:r>
            <a:r>
              <a:rPr lang="ru-RU" dirty="0"/>
              <a:t>всех режимах работы по </a:t>
            </a:r>
            <a:r>
              <a:rPr lang="ru-RU" dirty="0" smtClean="0"/>
              <a:t>сравнению</a:t>
            </a:r>
          </a:p>
          <a:p>
            <a:pPr algn="just"/>
            <a:r>
              <a:rPr lang="ru-RU" dirty="0" smtClean="0"/>
              <a:t>с </a:t>
            </a:r>
            <a:r>
              <a:rPr lang="ru-RU" dirty="0"/>
              <a:t>некорректной характеристикой впрыска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92065" y="4400734"/>
            <a:ext cx="4819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 </a:t>
            </a:r>
            <a:r>
              <a:rPr lang="ru-RU" dirty="0"/>
              <a:t>использовании ступенчатой характеристики </a:t>
            </a:r>
            <a:r>
              <a:rPr lang="ru-RU" dirty="0" smtClean="0"/>
              <a:t>количество выбросов оксида </a:t>
            </a:r>
            <a:r>
              <a:rPr lang="ru-RU" dirty="0"/>
              <a:t>азота </a:t>
            </a:r>
            <a:r>
              <a:rPr lang="ru-RU" dirty="0" smtClean="0"/>
              <a:t>на снизилось </a:t>
            </a:r>
            <a:r>
              <a:rPr lang="ru-RU" dirty="0"/>
              <a:t>5% </a:t>
            </a:r>
            <a:r>
              <a:rPr lang="ru-RU" dirty="0" smtClean="0"/>
              <a:t>по </a:t>
            </a:r>
            <a:r>
              <a:rPr lang="ru-RU" dirty="0"/>
              <a:t>сравнению с </a:t>
            </a:r>
            <a:endParaRPr lang="ru-RU" dirty="0" smtClean="0"/>
          </a:p>
          <a:p>
            <a:r>
              <a:rPr lang="ru-RU" dirty="0" smtClean="0"/>
              <a:t>некорректной </a:t>
            </a:r>
            <a:r>
              <a:rPr lang="ru-RU" dirty="0"/>
              <a:t>характеристикой впрыска. </a:t>
            </a:r>
          </a:p>
        </p:txBody>
      </p:sp>
    </p:spTree>
    <p:extLst>
      <p:ext uri="{BB962C8B-B14F-4D97-AF65-F5344CB8AC3E}">
        <p14:creationId xmlns:p14="http://schemas.microsoft.com/office/powerpoint/2010/main" val="227461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1136" y="302991"/>
            <a:ext cx="10515600" cy="720725"/>
          </a:xfrm>
        </p:spPr>
        <p:txBody>
          <a:bodyPr/>
          <a:lstStyle/>
          <a:p>
            <a:pPr algn="ctr"/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5872" y="1671783"/>
            <a:ext cx="121461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спроектирован, </a:t>
            </a:r>
            <a:r>
              <a:rPr lang="ru-RU" sz="2400" dirty="0"/>
              <a:t>4-х цилиндровый рядный дизельный двигатель с номинальной мощностью, </a:t>
            </a:r>
            <a:r>
              <a:rPr lang="ru-RU" sz="2400" i="1" dirty="0" err="1"/>
              <a:t>N</a:t>
            </a:r>
            <a:r>
              <a:rPr lang="ru-RU" sz="2400" baseline="-25000" dirty="0" err="1"/>
              <a:t>e</a:t>
            </a:r>
            <a:r>
              <a:rPr lang="ru-RU" sz="2400" dirty="0"/>
              <a:t>=40 кВт, номинальной частотой вращения, n=1700 мин</a:t>
            </a:r>
            <a:r>
              <a:rPr lang="ru-RU" sz="2400" baseline="30000" dirty="0"/>
              <a:t>-1</a:t>
            </a:r>
            <a:r>
              <a:rPr lang="ru-RU" sz="2400" dirty="0"/>
              <a:t>, степенью сжатия, ε=16, коэффициентом избытка воздуха, α=1,4, с числом клапанов на цилиндр = 4.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управления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ПИД-регулятора с помощью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модельно базированного программирования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ASCET</a:t>
            </a:r>
            <a:r>
              <a:rPr lang="ru-RU" sz="24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математическую модель аккумулятора топливной системы для отладки разработанного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была проведена отладка и первичная калибровка разработанного ПИД регулятора;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проект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управления ТС, основанный на её физической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04186" y="1085850"/>
            <a:ext cx="4656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Поставленные задачи выполнены</a:t>
            </a:r>
            <a:r>
              <a:rPr lang="ru-RU" dirty="0" smtClean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176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563</Words>
  <Application>Microsoft Office PowerPoint</Application>
  <PresentationFormat>Широкоэкранный</PresentationFormat>
  <Paragraphs>123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58</cp:revision>
  <dcterms:created xsi:type="dcterms:W3CDTF">2022-04-24T14:48:16Z</dcterms:created>
  <dcterms:modified xsi:type="dcterms:W3CDTF">2022-05-13T15:48:53Z</dcterms:modified>
</cp:coreProperties>
</file>