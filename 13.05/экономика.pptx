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74" autoAdjust="0"/>
  </p:normalViewPr>
  <p:slideViewPr>
    <p:cSldViewPr snapToGrid="0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&#1055;&#1086;&#1083;&#1100;&#1079;&#1086;&#1074;&#1072;&#1090;&#1077;&#1083;&#1100;\Desktop\&#1092;&#1088;&#1072;&#1085;&#1082;&#1077;&#1085;&#1096;&#1090;&#1077;&#1081;&#1085;\&#1085;&#1080;&#1086;&#1082;&#1088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67825896762902"/>
          <c:y val="5.0925925925925923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tx>
            <c:v>традиционный метод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Лист1!$M$4</c:f>
              <c:numCache>
                <c:formatCode>#,##0</c:formatCode>
                <c:ptCount val="1"/>
                <c:pt idx="0">
                  <c:v>800000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BB-462D-AFC8-B00B195ECD6F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3BBB-462D-AFC8-B00B195ECD6F}"/>
            </c:ext>
          </c:extLst>
        </c:ser>
        <c:ser>
          <c:idx val="2"/>
          <c:order val="2"/>
          <c:tx>
            <c:v>новый метод</c:v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val>
            <c:numRef>
              <c:f>Лист1!$M$5</c:f>
              <c:numCache>
                <c:formatCode>#,##0</c:formatCode>
                <c:ptCount val="1"/>
                <c:pt idx="0">
                  <c:v>500000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BBB-462D-AFC8-B00B195ECD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01227034120735"/>
          <c:y val="5.0925846159147574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Лист1!$M$8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66-4A74-9FDA-63CC6D4310C1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3166-4A74-9FDA-63CC6D4310C1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Лист1!$M$9</c:f>
              <c:numCache>
                <c:formatCode>General</c:formatCode>
                <c:ptCount val="1"/>
                <c:pt idx="0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66-4A74-9FDA-63CC6D4310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567825896762902"/>
          <c:y val="5.0925925925925923E-2"/>
          <c:w val="0.84654396325459313"/>
          <c:h val="0.8981481481481481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Лист1!$O$4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73-4C29-A6E6-7955694F35F3}"/>
            </c:ext>
          </c:extLst>
        </c:ser>
        <c:ser>
          <c:idx val="1"/>
          <c:order val="1"/>
          <c:tx>
            <c:v>пропуск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Lit>
              <c:formatCode>General</c:formatCode>
              <c:ptCount val="1"/>
              <c:pt idx="0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1-8E73-4C29-A6E6-7955694F35F3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Лист1!$O$5</c:f>
              <c:numCache>
                <c:formatCode>General</c:formatCode>
                <c:ptCount val="1"/>
                <c:pt idx="0">
                  <c:v>62.5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E73-4C29-A6E6-7955694F35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68611208"/>
        <c:axId val="368613504"/>
      </c:barChart>
      <c:catAx>
        <c:axId val="368611208"/>
        <c:scaling>
          <c:orientation val="minMax"/>
        </c:scaling>
        <c:delete val="1"/>
        <c:axPos val="b"/>
        <c:majorTickMark val="none"/>
        <c:minorTickMark val="none"/>
        <c:tickLblPos val="nextTo"/>
        <c:crossAx val="368613504"/>
        <c:crosses val="autoZero"/>
        <c:auto val="1"/>
        <c:lblAlgn val="ctr"/>
        <c:lblOffset val="100"/>
        <c:noMultiLvlLbl val="0"/>
      </c:catAx>
      <c:valAx>
        <c:axId val="36861350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68611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347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280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70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72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86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209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70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49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996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5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46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0CA26-50CF-45C4-A3EB-98DA8CE5D322}" type="datetimeFigureOut">
              <a:rPr lang="ru-RU" smtClean="0"/>
              <a:t>12.05.2022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DF7AE7-B96E-4227-8E80-07241BD8500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4374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/>
          <p:cNvPicPr>
            <a:picLocks noChangeAspect="1"/>
          </p:cNvPicPr>
          <p:nvPr/>
        </p:nvPicPr>
        <p:blipFill rotWithShape="1">
          <a:blip r:embed="rId2"/>
          <a:srcRect r="9283" b="15459"/>
          <a:stretch/>
        </p:blipFill>
        <p:spPr>
          <a:xfrm>
            <a:off x="860086" y="2270561"/>
            <a:ext cx="5005005" cy="3021155"/>
          </a:xfrm>
          <a:prstGeom prst="rect">
            <a:avLst/>
          </a:prstGeom>
        </p:spPr>
      </p:pic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500" y="112615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№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9160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sp>
        <p:nvSpPr>
          <p:cNvPr id="22" name="TextBox 21"/>
          <p:cNvSpPr txBox="1"/>
          <p:nvPr/>
        </p:nvSpPr>
        <p:spPr>
          <a:xfrm>
            <a:off x="2151490" y="170562"/>
            <a:ext cx="78890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 smtClean="0"/>
              <a:t>Оценка </a:t>
            </a:r>
            <a:r>
              <a:rPr lang="ru-RU" b="1" dirty="0"/>
              <a:t>целесообразности использования модельно </a:t>
            </a:r>
            <a:r>
              <a:rPr lang="ru-RU" b="1" dirty="0" smtClean="0"/>
              <a:t>базированного</a:t>
            </a:r>
          </a:p>
          <a:p>
            <a:pPr algn="ctr"/>
            <a:r>
              <a:rPr lang="ru-RU" b="1" dirty="0" smtClean="0"/>
              <a:t>программирования </a:t>
            </a:r>
            <a:r>
              <a:rPr lang="ru-RU" b="1" dirty="0"/>
              <a:t>для разработки алгоритмов управления системами ДВС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31142" r="34605" b="-777"/>
          <a:stretch/>
        </p:blipFill>
        <p:spPr>
          <a:xfrm>
            <a:off x="6581243" y="1684553"/>
            <a:ext cx="4552714" cy="44756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43332" y="1130555"/>
            <a:ext cx="39083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программирования СИ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88824" y="976667"/>
            <a:ext cx="43071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/>
              <a:t>Модельно базированное программирование</a:t>
            </a:r>
            <a:endParaRPr lang="ru-RU" sz="2000" dirty="0"/>
          </a:p>
        </p:txBody>
      </p:sp>
      <p:sp>
        <p:nvSpPr>
          <p:cNvPr id="2" name="TextBox 1"/>
          <p:cNvSpPr txBox="1"/>
          <p:nvPr/>
        </p:nvSpPr>
        <p:spPr>
          <a:xfrm>
            <a:off x="7578756" y="6160168"/>
            <a:ext cx="2557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1/8  программного кода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3442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11718500" y="112615"/>
            <a:ext cx="323850" cy="2702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en-US" sz="1350" dirty="0" smtClean="0"/>
              <a:t>№</a:t>
            </a:r>
            <a:endParaRPr lang="ru-RU" altLang="en-US" sz="13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43934" y="119160"/>
            <a:ext cx="11904133" cy="66262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ru-RU"/>
          </a:p>
        </p:txBody>
      </p:sp>
      <p:graphicFrame>
        <p:nvGraphicFramePr>
          <p:cNvPr id="6" name="Диаграмма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0510897"/>
              </p:ext>
            </p:extLst>
          </p:nvPr>
        </p:nvGraphicFramePr>
        <p:xfrm>
          <a:off x="414099" y="1271088"/>
          <a:ext cx="4578796" cy="20331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Диаграмма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583712"/>
              </p:ext>
            </p:extLst>
          </p:nvPr>
        </p:nvGraphicFramePr>
        <p:xfrm>
          <a:off x="6734306" y="1271088"/>
          <a:ext cx="4679932" cy="18519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Диаграмма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2658059"/>
              </p:ext>
            </p:extLst>
          </p:nvPr>
        </p:nvGraphicFramePr>
        <p:xfrm>
          <a:off x="6918960" y="4612640"/>
          <a:ext cx="4286452" cy="1798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289276" y="3122991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439125" y="3122991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552241" y="564192"/>
            <a:ext cx="4614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Себестоимость решения задачи </a:t>
            </a:r>
          </a:p>
          <a:p>
            <a:r>
              <a:rPr lang="ru-RU" dirty="0" smtClean="0"/>
              <a:t>традиционным и новым методами, руб./год.</a:t>
            </a:r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7203440" y="564191"/>
            <a:ext cx="4121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Время на разработку нового алгоритма </a:t>
            </a:r>
          </a:p>
          <a:p>
            <a:r>
              <a:rPr lang="ru-RU" dirty="0" smtClean="0"/>
              <a:t>управления меньше на 60%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7537189" y="302456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9774182" y="30460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7329308" y="4128172"/>
            <a:ext cx="3870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Себестоимость товара ниже на 37.5%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9687038" y="6325278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Новый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7822210" y="6341430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Традиционный</a:t>
            </a:r>
            <a:endParaRPr lang="ru-RU" dirty="0"/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9784"/>
              </p:ext>
            </p:extLst>
          </p:nvPr>
        </p:nvGraphicFramePr>
        <p:xfrm>
          <a:off x="375788" y="3632119"/>
          <a:ext cx="5988852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284">
                  <a:extLst>
                    <a:ext uri="{9D8B030D-6E8A-4147-A177-3AD203B41FA5}">
                      <a16:colId xmlns:a16="http://schemas.microsoft.com/office/drawing/2014/main" val="1818626922"/>
                    </a:ext>
                  </a:extLst>
                </a:gridCol>
                <a:gridCol w="1996284">
                  <a:extLst>
                    <a:ext uri="{9D8B030D-6E8A-4147-A177-3AD203B41FA5}">
                      <a16:colId xmlns:a16="http://schemas.microsoft.com/office/drawing/2014/main" val="2207490214"/>
                    </a:ext>
                  </a:extLst>
                </a:gridCol>
                <a:gridCol w="1996284">
                  <a:extLst>
                    <a:ext uri="{9D8B030D-6E8A-4147-A177-3AD203B41FA5}">
                      <a16:colId xmlns:a16="http://schemas.microsoft.com/office/drawing/2014/main" val="568960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Затраты на разработку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Срок окупаемости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Годовой экономический эффект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942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2 081 473 руб.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16 месяцев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1 800 000 руб.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09393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75788" y="5331771"/>
            <a:ext cx="68105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Использование МБП позволяет сократить срок разработки </a:t>
            </a:r>
          </a:p>
          <a:p>
            <a:r>
              <a:rPr lang="ru-RU" dirty="0" smtClean="0"/>
              <a:t>алгоритма управления, а также его легче воспринимать </a:t>
            </a:r>
          </a:p>
          <a:p>
            <a:r>
              <a:rPr lang="ru-RU" dirty="0" smtClean="0"/>
              <a:t>другому специалисту при внесение корректировок или доработок.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251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99</Words>
  <Application>Microsoft Office PowerPoint</Application>
  <PresentationFormat>Широкоэкранный</PresentationFormat>
  <Paragraphs>27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10</cp:revision>
  <dcterms:created xsi:type="dcterms:W3CDTF">2022-05-10T11:14:25Z</dcterms:created>
  <dcterms:modified xsi:type="dcterms:W3CDTF">2022-05-13T13:17:36Z</dcterms:modified>
</cp:coreProperties>
</file>